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4" r:id="rId4"/>
    <p:sldId id="275" r:id="rId5"/>
    <p:sldId id="276" r:id="rId6"/>
    <p:sldId id="263" r:id="rId7"/>
    <p:sldId id="278" r:id="rId8"/>
    <p:sldId id="260" r:id="rId9"/>
    <p:sldId id="272" r:id="rId10"/>
    <p:sldId id="262" r:id="rId11"/>
    <p:sldId id="271" r:id="rId12"/>
    <p:sldId id="264" r:id="rId13"/>
    <p:sldId id="273" r:id="rId14"/>
    <p:sldId id="265" r:id="rId15"/>
    <p:sldId id="266" r:id="rId16"/>
    <p:sldId id="279" r:id="rId17"/>
    <p:sldId id="280" r:id="rId18"/>
    <p:sldId id="267" r:id="rId19"/>
    <p:sldId id="269" r:id="rId20"/>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6" d="100"/>
          <a:sy n="76" d="100"/>
        </p:scale>
        <p:origin x="1272"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sz="3500" b="1" i="0">
                <a:solidFill>
                  <a:srgbClr val="00AF50"/>
                </a:solidFill>
                <a:latin typeface="Times New Roman"/>
                <a:cs typeface="Times New Roman"/>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sz="16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4/25/2026</a:t>
            </a:fld>
            <a:endParaRPr lang="en-US"/>
          </a:p>
        </p:txBody>
      </p:sp>
      <p:sp>
        <p:nvSpPr>
          <p:cNvPr id="6" name="Holder 6"/>
          <p:cNvSpPr>
            <a:spLocks noGrp="1"/>
          </p:cNvSpPr>
          <p:nvPr>
            <p:ph type="sldNum" sz="quarter" idx="7"/>
          </p:nvPr>
        </p:nvSpPr>
        <p:spPr/>
        <p:txBody>
          <a:bodyPr lIns="0" tIns="0" rIns="0" bIns="0"/>
          <a:lstStyle>
            <a:lvl1pPr>
              <a:defRPr sz="1750" b="1" i="0">
                <a:solidFill>
                  <a:schemeClr val="tx1"/>
                </a:solidFill>
                <a:latin typeface="Calibri"/>
                <a:cs typeface="Calibri"/>
              </a:defRPr>
            </a:lvl1pPr>
          </a:lstStyle>
          <a:p>
            <a:pPr marL="38100">
              <a:lnSpc>
                <a:spcPts val="177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rgbClr val="00AF5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6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4/25/2026</a:t>
            </a:fld>
            <a:endParaRPr lang="en-US"/>
          </a:p>
        </p:txBody>
      </p:sp>
      <p:sp>
        <p:nvSpPr>
          <p:cNvPr id="6" name="Holder 6"/>
          <p:cNvSpPr>
            <a:spLocks noGrp="1"/>
          </p:cNvSpPr>
          <p:nvPr>
            <p:ph type="sldNum" sz="quarter" idx="7"/>
          </p:nvPr>
        </p:nvSpPr>
        <p:spPr/>
        <p:txBody>
          <a:bodyPr lIns="0" tIns="0" rIns="0" bIns="0"/>
          <a:lstStyle>
            <a:lvl1pPr>
              <a:defRPr sz="1750" b="1" i="0">
                <a:solidFill>
                  <a:schemeClr val="tx1"/>
                </a:solidFill>
                <a:latin typeface="Calibri"/>
                <a:cs typeface="Calibri"/>
              </a:defRPr>
            </a:lvl1pPr>
          </a:lstStyle>
          <a:p>
            <a:pPr marL="38100">
              <a:lnSpc>
                <a:spcPts val="177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rgbClr val="00AF50"/>
                </a:solidFill>
                <a:latin typeface="Times New Roman"/>
                <a:cs typeface="Times New Roman"/>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4/25/2026</a:t>
            </a:fld>
            <a:endParaRPr lang="en-US"/>
          </a:p>
        </p:txBody>
      </p:sp>
      <p:sp>
        <p:nvSpPr>
          <p:cNvPr id="7" name="Holder 7"/>
          <p:cNvSpPr>
            <a:spLocks noGrp="1"/>
          </p:cNvSpPr>
          <p:nvPr>
            <p:ph type="sldNum" sz="quarter" idx="7"/>
          </p:nvPr>
        </p:nvSpPr>
        <p:spPr/>
        <p:txBody>
          <a:bodyPr lIns="0" tIns="0" rIns="0" bIns="0"/>
          <a:lstStyle>
            <a:lvl1pPr>
              <a:defRPr sz="1750" b="1" i="0">
                <a:solidFill>
                  <a:schemeClr val="tx1"/>
                </a:solidFill>
                <a:latin typeface="Calibri"/>
                <a:cs typeface="Calibri"/>
              </a:defRPr>
            </a:lvl1pPr>
          </a:lstStyle>
          <a:p>
            <a:pPr marL="38100">
              <a:lnSpc>
                <a:spcPts val="177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rgbClr val="00AF5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4/25/2026</a:t>
            </a:fld>
            <a:endParaRPr lang="en-US"/>
          </a:p>
        </p:txBody>
      </p:sp>
      <p:sp>
        <p:nvSpPr>
          <p:cNvPr id="5" name="Holder 5"/>
          <p:cNvSpPr>
            <a:spLocks noGrp="1"/>
          </p:cNvSpPr>
          <p:nvPr>
            <p:ph type="sldNum" sz="quarter" idx="7"/>
          </p:nvPr>
        </p:nvSpPr>
        <p:spPr/>
        <p:txBody>
          <a:bodyPr lIns="0" tIns="0" rIns="0" bIns="0"/>
          <a:lstStyle>
            <a:lvl1pPr>
              <a:defRPr sz="1750" b="1" i="0">
                <a:solidFill>
                  <a:schemeClr val="tx1"/>
                </a:solidFill>
                <a:latin typeface="Calibri"/>
                <a:cs typeface="Calibri"/>
              </a:defRPr>
            </a:lvl1pPr>
          </a:lstStyle>
          <a:p>
            <a:pPr marL="38100">
              <a:lnSpc>
                <a:spcPts val="177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4/25/2026</a:t>
            </a:fld>
            <a:endParaRPr lang="en-US"/>
          </a:p>
        </p:txBody>
      </p:sp>
      <p:sp>
        <p:nvSpPr>
          <p:cNvPr id="4" name="Holder 4"/>
          <p:cNvSpPr>
            <a:spLocks noGrp="1"/>
          </p:cNvSpPr>
          <p:nvPr>
            <p:ph type="sldNum" sz="quarter" idx="7"/>
          </p:nvPr>
        </p:nvSpPr>
        <p:spPr/>
        <p:txBody>
          <a:bodyPr lIns="0" tIns="0" rIns="0" bIns="0"/>
          <a:lstStyle>
            <a:lvl1pPr>
              <a:defRPr sz="1750" b="1" i="0">
                <a:solidFill>
                  <a:schemeClr val="tx1"/>
                </a:solidFill>
                <a:latin typeface="Calibri"/>
                <a:cs typeface="Calibri"/>
              </a:defRPr>
            </a:lvl1pPr>
          </a:lstStyle>
          <a:p>
            <a:pPr marL="38100">
              <a:lnSpc>
                <a:spcPts val="177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882128" y="169164"/>
            <a:ext cx="2420620" cy="1007744"/>
          </a:xfrm>
          <a:custGeom>
            <a:avLst/>
            <a:gdLst/>
            <a:ahLst/>
            <a:cxnLst/>
            <a:rect l="l" t="t" r="r" b="b"/>
            <a:pathLst>
              <a:path w="2420620" h="1007744">
                <a:moveTo>
                  <a:pt x="0" y="167640"/>
                </a:moveTo>
                <a:lnTo>
                  <a:pt x="2420111" y="169163"/>
                </a:lnTo>
              </a:path>
              <a:path w="2420620" h="1007744">
                <a:moveTo>
                  <a:pt x="2250947" y="1007363"/>
                </a:moveTo>
                <a:lnTo>
                  <a:pt x="2252471" y="0"/>
                </a:lnTo>
              </a:path>
            </a:pathLst>
          </a:custGeom>
          <a:ln w="32004">
            <a:solidFill>
              <a:srgbClr val="006600"/>
            </a:solidFill>
          </a:ln>
        </p:spPr>
        <p:txBody>
          <a:bodyPr wrap="square" lIns="0" tIns="0" rIns="0" bIns="0" rtlCol="0"/>
          <a:lstStyle/>
          <a:p>
            <a:endParaRPr/>
          </a:p>
        </p:txBody>
      </p:sp>
      <p:sp>
        <p:nvSpPr>
          <p:cNvPr id="17" name="bg object 17"/>
          <p:cNvSpPr/>
          <p:nvPr/>
        </p:nvSpPr>
        <p:spPr>
          <a:xfrm>
            <a:off x="8034528" y="252983"/>
            <a:ext cx="2217420" cy="1007744"/>
          </a:xfrm>
          <a:custGeom>
            <a:avLst/>
            <a:gdLst/>
            <a:ahLst/>
            <a:cxnLst/>
            <a:rect l="l" t="t" r="r" b="b"/>
            <a:pathLst>
              <a:path w="2217420" h="1007744">
                <a:moveTo>
                  <a:pt x="2014728" y="1007364"/>
                </a:moveTo>
                <a:lnTo>
                  <a:pt x="2016251" y="0"/>
                </a:lnTo>
              </a:path>
              <a:path w="2217420" h="1007744">
                <a:moveTo>
                  <a:pt x="0" y="167640"/>
                </a:moveTo>
                <a:lnTo>
                  <a:pt x="2217419" y="169164"/>
                </a:lnTo>
              </a:path>
            </a:pathLst>
          </a:custGeom>
          <a:ln w="13716">
            <a:solidFill>
              <a:srgbClr val="006600"/>
            </a:solidFill>
          </a:ln>
        </p:spPr>
        <p:txBody>
          <a:bodyPr wrap="square" lIns="0" tIns="0" rIns="0" bIns="0" rtlCol="0"/>
          <a:lstStyle/>
          <a:p>
            <a:endParaRPr/>
          </a:p>
        </p:txBody>
      </p:sp>
      <p:sp>
        <p:nvSpPr>
          <p:cNvPr id="18" name="bg object 18"/>
          <p:cNvSpPr/>
          <p:nvPr/>
        </p:nvSpPr>
        <p:spPr>
          <a:xfrm>
            <a:off x="472439" y="4940807"/>
            <a:ext cx="1007744" cy="2420620"/>
          </a:xfrm>
          <a:custGeom>
            <a:avLst/>
            <a:gdLst/>
            <a:ahLst/>
            <a:cxnLst/>
            <a:rect l="l" t="t" r="r" b="b"/>
            <a:pathLst>
              <a:path w="1007744" h="2420620">
                <a:moveTo>
                  <a:pt x="118872" y="0"/>
                </a:moveTo>
                <a:lnTo>
                  <a:pt x="117348" y="2420112"/>
                </a:lnTo>
              </a:path>
              <a:path w="1007744" h="2420620">
                <a:moveTo>
                  <a:pt x="0" y="2286000"/>
                </a:moveTo>
                <a:lnTo>
                  <a:pt x="1007364" y="2287524"/>
                </a:lnTo>
              </a:path>
            </a:pathLst>
          </a:custGeom>
          <a:ln w="32004">
            <a:solidFill>
              <a:srgbClr val="006600"/>
            </a:solidFill>
          </a:ln>
        </p:spPr>
        <p:txBody>
          <a:bodyPr wrap="square" lIns="0" tIns="0" rIns="0" bIns="0" rtlCol="0"/>
          <a:lstStyle/>
          <a:p>
            <a:endParaRPr/>
          </a:p>
        </p:txBody>
      </p:sp>
      <p:sp>
        <p:nvSpPr>
          <p:cNvPr id="19" name="bg object 19"/>
          <p:cNvSpPr/>
          <p:nvPr/>
        </p:nvSpPr>
        <p:spPr>
          <a:xfrm>
            <a:off x="512063" y="5126735"/>
            <a:ext cx="1007744" cy="2217420"/>
          </a:xfrm>
          <a:custGeom>
            <a:avLst/>
            <a:gdLst/>
            <a:ahLst/>
            <a:cxnLst/>
            <a:rect l="l" t="t" r="r" b="b"/>
            <a:pathLst>
              <a:path w="1007744" h="2217420">
                <a:moveTo>
                  <a:pt x="0" y="2016251"/>
                </a:moveTo>
                <a:lnTo>
                  <a:pt x="1007364" y="2017776"/>
                </a:lnTo>
              </a:path>
              <a:path w="1007744" h="2217420">
                <a:moveTo>
                  <a:pt x="129540" y="0"/>
                </a:moveTo>
                <a:lnTo>
                  <a:pt x="128015" y="2217419"/>
                </a:lnTo>
              </a:path>
            </a:pathLst>
          </a:custGeom>
          <a:ln w="13716">
            <a:solidFill>
              <a:srgbClr val="006600"/>
            </a:solidFill>
          </a:ln>
        </p:spPr>
        <p:txBody>
          <a:bodyPr wrap="square" lIns="0" tIns="0" rIns="0" bIns="0" rtlCol="0"/>
          <a:lstStyle/>
          <a:p>
            <a:endParaRPr/>
          </a:p>
        </p:txBody>
      </p:sp>
      <p:pic>
        <p:nvPicPr>
          <p:cNvPr id="20" name="bg object 20"/>
          <p:cNvPicPr/>
          <p:nvPr/>
        </p:nvPicPr>
        <p:blipFill>
          <a:blip r:embed="rId7" cstate="print"/>
          <a:stretch>
            <a:fillRect/>
          </a:stretch>
        </p:blipFill>
        <p:spPr>
          <a:xfrm>
            <a:off x="8400288" y="6554723"/>
            <a:ext cx="1484375" cy="813816"/>
          </a:xfrm>
          <a:prstGeom prst="rect">
            <a:avLst/>
          </a:prstGeom>
        </p:spPr>
      </p:pic>
      <p:sp>
        <p:nvSpPr>
          <p:cNvPr id="2" name="Holder 2"/>
          <p:cNvSpPr>
            <a:spLocks noGrp="1"/>
          </p:cNvSpPr>
          <p:nvPr>
            <p:ph type="title"/>
          </p:nvPr>
        </p:nvSpPr>
        <p:spPr>
          <a:xfrm>
            <a:off x="3484975" y="368247"/>
            <a:ext cx="3723449" cy="563244"/>
          </a:xfrm>
          <a:prstGeom prst="rect">
            <a:avLst/>
          </a:prstGeom>
        </p:spPr>
        <p:txBody>
          <a:bodyPr wrap="square" lIns="0" tIns="0" rIns="0" bIns="0">
            <a:spAutoFit/>
          </a:bodyPr>
          <a:lstStyle>
            <a:lvl1pPr>
              <a:defRPr sz="3500" b="1" i="0">
                <a:solidFill>
                  <a:srgbClr val="00AF50"/>
                </a:solidFill>
                <a:latin typeface="Times New Roman"/>
                <a:cs typeface="Times New Roman"/>
              </a:defRPr>
            </a:lvl1pPr>
          </a:lstStyle>
          <a:p>
            <a:endParaRPr/>
          </a:p>
        </p:txBody>
      </p:sp>
      <p:sp>
        <p:nvSpPr>
          <p:cNvPr id="3" name="Holder 3"/>
          <p:cNvSpPr>
            <a:spLocks noGrp="1"/>
          </p:cNvSpPr>
          <p:nvPr>
            <p:ph type="body" idx="1"/>
          </p:nvPr>
        </p:nvSpPr>
        <p:spPr>
          <a:xfrm>
            <a:off x="1020557" y="1635609"/>
            <a:ext cx="8774430" cy="3429000"/>
          </a:xfrm>
          <a:prstGeom prst="rect">
            <a:avLst/>
          </a:prstGeom>
        </p:spPr>
        <p:txBody>
          <a:bodyPr wrap="square" lIns="0" tIns="0" rIns="0" bIns="0">
            <a:spAutoFit/>
          </a:bodyPr>
          <a:lstStyle>
            <a:lvl1pPr>
              <a:defRPr sz="16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4/25/2026</a:t>
            </a:fld>
            <a:endParaRPr lang="en-US"/>
          </a:p>
        </p:txBody>
      </p:sp>
      <p:sp>
        <p:nvSpPr>
          <p:cNvPr id="6" name="Holder 6"/>
          <p:cNvSpPr>
            <a:spLocks noGrp="1"/>
          </p:cNvSpPr>
          <p:nvPr>
            <p:ph type="sldNum" sz="quarter" idx="7"/>
          </p:nvPr>
        </p:nvSpPr>
        <p:spPr>
          <a:xfrm>
            <a:off x="5491005" y="6989652"/>
            <a:ext cx="276860" cy="249554"/>
          </a:xfrm>
          <a:prstGeom prst="rect">
            <a:avLst/>
          </a:prstGeom>
        </p:spPr>
        <p:txBody>
          <a:bodyPr wrap="square" lIns="0" tIns="0" rIns="0" bIns="0">
            <a:spAutoFit/>
          </a:bodyPr>
          <a:lstStyle>
            <a:lvl1pPr>
              <a:defRPr sz="1750" b="1" i="0">
                <a:solidFill>
                  <a:schemeClr val="tx1"/>
                </a:solidFill>
                <a:latin typeface="Calibri"/>
                <a:cs typeface="Calibri"/>
              </a:defRPr>
            </a:lvl1pPr>
          </a:lstStyle>
          <a:p>
            <a:pPr marL="38100">
              <a:lnSpc>
                <a:spcPts val="177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3499" y="3725840"/>
            <a:ext cx="6083935" cy="3164969"/>
          </a:xfrm>
          <a:prstGeom prst="rect">
            <a:avLst/>
          </a:prstGeom>
        </p:spPr>
        <p:txBody>
          <a:bodyPr vert="horz" wrap="square" lIns="0" tIns="15240" rIns="0" bIns="0" rtlCol="0">
            <a:spAutoFit/>
          </a:bodyPr>
          <a:lstStyle/>
          <a:p>
            <a:pPr marL="1731645" marR="1470025" indent="-2540" algn="just">
              <a:lnSpc>
                <a:spcPct val="100099"/>
              </a:lnSpc>
              <a:spcBef>
                <a:spcPts val="120"/>
              </a:spcBef>
            </a:pPr>
            <a:r>
              <a:rPr lang="en-US" sz="2400" dirty="0">
                <a:latin typeface="Times New Roman"/>
                <a:cs typeface="Times New Roman"/>
              </a:rPr>
              <a:t>Under</a:t>
            </a:r>
            <a:r>
              <a:rPr lang="en-US" sz="2400" spc="40" dirty="0">
                <a:latin typeface="Times New Roman"/>
                <a:cs typeface="Times New Roman"/>
              </a:rPr>
              <a:t> </a:t>
            </a:r>
            <a:r>
              <a:rPr lang="en-US" sz="2400" dirty="0">
                <a:latin typeface="Times New Roman"/>
                <a:cs typeface="Times New Roman"/>
              </a:rPr>
              <a:t>the</a:t>
            </a:r>
            <a:r>
              <a:rPr lang="en-US" sz="2400" spc="40" dirty="0">
                <a:latin typeface="Times New Roman"/>
                <a:cs typeface="Times New Roman"/>
              </a:rPr>
              <a:t> </a:t>
            </a:r>
            <a:r>
              <a:rPr lang="en-US" sz="2400" dirty="0">
                <a:latin typeface="Times New Roman"/>
                <a:cs typeface="Times New Roman"/>
              </a:rPr>
              <a:t>Guidance</a:t>
            </a:r>
            <a:r>
              <a:rPr lang="en-US" sz="2400" spc="40" dirty="0">
                <a:latin typeface="Times New Roman"/>
                <a:cs typeface="Times New Roman"/>
              </a:rPr>
              <a:t> </a:t>
            </a:r>
            <a:r>
              <a:rPr lang="en-US" sz="2400" spc="-25" dirty="0">
                <a:latin typeface="Times New Roman"/>
                <a:cs typeface="Times New Roman"/>
              </a:rPr>
              <a:t>of </a:t>
            </a:r>
            <a:r>
              <a:rPr lang="en-US" sz="2650" b="1" dirty="0" err="1">
                <a:latin typeface="Times New Roman"/>
                <a:cs typeface="Times New Roman"/>
              </a:rPr>
              <a:t>Dr.K</a:t>
            </a:r>
            <a:r>
              <a:rPr lang="en-US" sz="2650" b="1" dirty="0">
                <a:latin typeface="Times New Roman"/>
                <a:cs typeface="Times New Roman"/>
              </a:rPr>
              <a:t>.</a:t>
            </a:r>
            <a:r>
              <a:rPr lang="en-US" sz="2650" b="1" spc="-15" dirty="0">
                <a:latin typeface="Times New Roman"/>
                <a:cs typeface="Times New Roman"/>
              </a:rPr>
              <a:t> </a:t>
            </a:r>
            <a:r>
              <a:rPr lang="en-US" sz="2650" b="1" spc="-10" dirty="0">
                <a:latin typeface="Times New Roman"/>
                <a:cs typeface="Times New Roman"/>
              </a:rPr>
              <a:t>Hari Krishna </a:t>
            </a:r>
            <a:r>
              <a:rPr lang="en-US" sz="2200" dirty="0">
                <a:latin typeface="Times New Roman"/>
                <a:cs typeface="Times New Roman"/>
              </a:rPr>
              <a:t>Associate</a:t>
            </a:r>
            <a:r>
              <a:rPr lang="en-US" sz="2200" spc="-25" dirty="0">
                <a:latin typeface="Times New Roman"/>
                <a:cs typeface="Times New Roman"/>
              </a:rPr>
              <a:t> </a:t>
            </a:r>
            <a:r>
              <a:rPr lang="en-US" sz="2200" dirty="0">
                <a:latin typeface="Times New Roman"/>
                <a:cs typeface="Times New Roman"/>
              </a:rPr>
              <a:t>Professor,</a:t>
            </a:r>
            <a:r>
              <a:rPr lang="en-US" sz="2200" spc="-30" dirty="0">
                <a:latin typeface="Times New Roman"/>
                <a:cs typeface="Times New Roman"/>
              </a:rPr>
              <a:t> </a:t>
            </a:r>
            <a:r>
              <a:rPr lang="en-US" sz="2200" spc="-25" dirty="0">
                <a:latin typeface="Times New Roman"/>
                <a:cs typeface="Times New Roman"/>
              </a:rPr>
              <a:t>CSE</a:t>
            </a:r>
            <a:br>
              <a:rPr lang="en-US" sz="2200" spc="-25" dirty="0">
                <a:latin typeface="Times New Roman"/>
                <a:cs typeface="Times New Roman"/>
              </a:rPr>
            </a:br>
            <a:endParaRPr sz="2200" dirty="0">
              <a:latin typeface="Times New Roman"/>
              <a:cs typeface="Times New Roman"/>
            </a:endParaRPr>
          </a:p>
          <a:p>
            <a:pPr marL="12700" marR="5080" algn="ctr">
              <a:lnSpc>
                <a:spcPct val="100000"/>
              </a:lnSpc>
            </a:pPr>
            <a:r>
              <a:rPr sz="2200" b="1" dirty="0">
                <a:solidFill>
                  <a:srgbClr val="006600"/>
                </a:solidFill>
                <a:latin typeface="Times New Roman"/>
                <a:cs typeface="Times New Roman"/>
              </a:rPr>
              <a:t>Department</a:t>
            </a:r>
            <a:r>
              <a:rPr sz="2200" b="1" spc="-35" dirty="0">
                <a:solidFill>
                  <a:srgbClr val="006600"/>
                </a:solidFill>
                <a:latin typeface="Times New Roman"/>
                <a:cs typeface="Times New Roman"/>
              </a:rPr>
              <a:t> </a:t>
            </a:r>
            <a:r>
              <a:rPr sz="2200" b="1" dirty="0">
                <a:solidFill>
                  <a:srgbClr val="006600"/>
                </a:solidFill>
                <a:latin typeface="Times New Roman"/>
                <a:cs typeface="Times New Roman"/>
              </a:rPr>
              <a:t>of</a:t>
            </a:r>
            <a:r>
              <a:rPr sz="2200" b="1" spc="-5" dirty="0">
                <a:solidFill>
                  <a:srgbClr val="006600"/>
                </a:solidFill>
                <a:latin typeface="Times New Roman"/>
                <a:cs typeface="Times New Roman"/>
              </a:rPr>
              <a:t> </a:t>
            </a:r>
            <a:r>
              <a:rPr sz="2200" b="1" dirty="0">
                <a:solidFill>
                  <a:srgbClr val="006600"/>
                </a:solidFill>
                <a:latin typeface="Times New Roman"/>
                <a:cs typeface="Times New Roman"/>
              </a:rPr>
              <a:t>Computer</a:t>
            </a:r>
            <a:r>
              <a:rPr sz="2200" b="1" spc="-30" dirty="0">
                <a:solidFill>
                  <a:srgbClr val="006600"/>
                </a:solidFill>
                <a:latin typeface="Times New Roman"/>
                <a:cs typeface="Times New Roman"/>
              </a:rPr>
              <a:t> </a:t>
            </a:r>
            <a:r>
              <a:rPr sz="2200" b="1" dirty="0">
                <a:solidFill>
                  <a:srgbClr val="006600"/>
                </a:solidFill>
                <a:latin typeface="Times New Roman"/>
                <a:cs typeface="Times New Roman"/>
              </a:rPr>
              <a:t>Science</a:t>
            </a:r>
            <a:r>
              <a:rPr sz="2200" b="1" spc="-35" dirty="0">
                <a:solidFill>
                  <a:srgbClr val="006600"/>
                </a:solidFill>
                <a:latin typeface="Times New Roman"/>
                <a:cs typeface="Times New Roman"/>
              </a:rPr>
              <a:t> </a:t>
            </a:r>
            <a:r>
              <a:rPr sz="2200" b="1" dirty="0">
                <a:solidFill>
                  <a:srgbClr val="006600"/>
                </a:solidFill>
                <a:latin typeface="Times New Roman"/>
                <a:cs typeface="Times New Roman"/>
              </a:rPr>
              <a:t>and</a:t>
            </a:r>
            <a:r>
              <a:rPr sz="2200" b="1" spc="-35" dirty="0">
                <a:solidFill>
                  <a:srgbClr val="006600"/>
                </a:solidFill>
                <a:latin typeface="Times New Roman"/>
                <a:cs typeface="Times New Roman"/>
              </a:rPr>
              <a:t> </a:t>
            </a:r>
            <a:r>
              <a:rPr sz="2200" b="1" spc="-10" dirty="0">
                <a:solidFill>
                  <a:srgbClr val="006600"/>
                </a:solidFill>
                <a:latin typeface="Times New Roman"/>
                <a:cs typeface="Times New Roman"/>
              </a:rPr>
              <a:t>Engineering </a:t>
            </a:r>
            <a:r>
              <a:rPr sz="2200" b="1" dirty="0">
                <a:solidFill>
                  <a:srgbClr val="006600"/>
                </a:solidFill>
                <a:latin typeface="Times New Roman"/>
                <a:cs typeface="Times New Roman"/>
              </a:rPr>
              <a:t>School</a:t>
            </a:r>
            <a:r>
              <a:rPr sz="2200" b="1" spc="-15" dirty="0">
                <a:solidFill>
                  <a:srgbClr val="006600"/>
                </a:solidFill>
                <a:latin typeface="Times New Roman"/>
                <a:cs typeface="Times New Roman"/>
              </a:rPr>
              <a:t> </a:t>
            </a:r>
            <a:r>
              <a:rPr sz="2200" b="1" dirty="0">
                <a:solidFill>
                  <a:srgbClr val="006600"/>
                </a:solidFill>
                <a:latin typeface="Times New Roman"/>
                <a:cs typeface="Times New Roman"/>
              </a:rPr>
              <a:t>of</a:t>
            </a:r>
            <a:r>
              <a:rPr sz="2200" b="1" spc="-5" dirty="0">
                <a:solidFill>
                  <a:srgbClr val="006600"/>
                </a:solidFill>
                <a:latin typeface="Times New Roman"/>
                <a:cs typeface="Times New Roman"/>
              </a:rPr>
              <a:t> </a:t>
            </a:r>
            <a:r>
              <a:rPr sz="2200" b="1" spc="-10" dirty="0">
                <a:solidFill>
                  <a:srgbClr val="006600"/>
                </a:solidFill>
                <a:latin typeface="Times New Roman"/>
                <a:cs typeface="Times New Roman"/>
              </a:rPr>
              <a:t>Computing</a:t>
            </a:r>
            <a:endParaRPr sz="2200" dirty="0">
              <a:latin typeface="Times New Roman"/>
              <a:cs typeface="Times New Roman"/>
            </a:endParaRPr>
          </a:p>
          <a:p>
            <a:pPr marL="1270" algn="ctr">
              <a:lnSpc>
                <a:spcPct val="100000"/>
              </a:lnSpc>
              <a:spcBef>
                <a:spcPts val="375"/>
              </a:spcBef>
            </a:pPr>
            <a:r>
              <a:rPr sz="2400" b="1" dirty="0">
                <a:solidFill>
                  <a:srgbClr val="006600"/>
                </a:solidFill>
                <a:latin typeface="Times New Roman"/>
                <a:cs typeface="Times New Roman"/>
              </a:rPr>
              <a:t>Mohan</a:t>
            </a:r>
            <a:r>
              <a:rPr sz="2400" b="1" spc="25" dirty="0">
                <a:solidFill>
                  <a:srgbClr val="006600"/>
                </a:solidFill>
                <a:latin typeface="Times New Roman"/>
                <a:cs typeface="Times New Roman"/>
              </a:rPr>
              <a:t> </a:t>
            </a:r>
            <a:r>
              <a:rPr sz="2400" b="1" dirty="0">
                <a:solidFill>
                  <a:srgbClr val="006600"/>
                </a:solidFill>
                <a:latin typeface="Times New Roman"/>
                <a:cs typeface="Times New Roman"/>
              </a:rPr>
              <a:t>Babu</a:t>
            </a:r>
            <a:r>
              <a:rPr sz="2400" b="1" spc="55" dirty="0">
                <a:solidFill>
                  <a:srgbClr val="006600"/>
                </a:solidFill>
                <a:latin typeface="Times New Roman"/>
                <a:cs typeface="Times New Roman"/>
              </a:rPr>
              <a:t> </a:t>
            </a:r>
            <a:r>
              <a:rPr sz="2400" b="1" spc="-10" dirty="0">
                <a:solidFill>
                  <a:srgbClr val="006600"/>
                </a:solidFill>
                <a:latin typeface="Times New Roman"/>
                <a:cs typeface="Times New Roman"/>
              </a:rPr>
              <a:t>University</a:t>
            </a:r>
            <a:endParaRPr sz="2400" dirty="0">
              <a:latin typeface="Times New Roman"/>
              <a:cs typeface="Times New Roman"/>
            </a:endParaRPr>
          </a:p>
          <a:p>
            <a:pPr marL="1270" algn="ctr">
              <a:lnSpc>
                <a:spcPct val="100000"/>
              </a:lnSpc>
              <a:spcBef>
                <a:spcPts val="360"/>
              </a:spcBef>
            </a:pPr>
            <a:r>
              <a:rPr sz="1550" dirty="0">
                <a:solidFill>
                  <a:srgbClr val="006600"/>
                </a:solidFill>
                <a:latin typeface="Times New Roman"/>
                <a:cs typeface="Times New Roman"/>
              </a:rPr>
              <a:t>Sree</a:t>
            </a:r>
            <a:r>
              <a:rPr sz="1550" spc="-40" dirty="0">
                <a:solidFill>
                  <a:srgbClr val="006600"/>
                </a:solidFill>
                <a:latin typeface="Times New Roman"/>
                <a:cs typeface="Times New Roman"/>
              </a:rPr>
              <a:t> </a:t>
            </a:r>
            <a:r>
              <a:rPr sz="1550" dirty="0">
                <a:solidFill>
                  <a:srgbClr val="006600"/>
                </a:solidFill>
                <a:latin typeface="Times New Roman"/>
                <a:cs typeface="Times New Roman"/>
              </a:rPr>
              <a:t>Sainath</a:t>
            </a:r>
            <a:r>
              <a:rPr sz="1550" spc="-30" dirty="0">
                <a:solidFill>
                  <a:srgbClr val="006600"/>
                </a:solidFill>
                <a:latin typeface="Times New Roman"/>
                <a:cs typeface="Times New Roman"/>
              </a:rPr>
              <a:t> </a:t>
            </a:r>
            <a:r>
              <a:rPr sz="1550" dirty="0">
                <a:solidFill>
                  <a:srgbClr val="006600"/>
                </a:solidFill>
                <a:latin typeface="Times New Roman"/>
                <a:cs typeface="Times New Roman"/>
              </a:rPr>
              <a:t>Nagar,</a:t>
            </a:r>
            <a:r>
              <a:rPr sz="1550" spc="-30" dirty="0">
                <a:solidFill>
                  <a:srgbClr val="006600"/>
                </a:solidFill>
                <a:latin typeface="Times New Roman"/>
                <a:cs typeface="Times New Roman"/>
              </a:rPr>
              <a:t> </a:t>
            </a:r>
            <a:r>
              <a:rPr sz="1550" dirty="0">
                <a:solidFill>
                  <a:srgbClr val="006600"/>
                </a:solidFill>
                <a:latin typeface="Times New Roman"/>
                <a:cs typeface="Times New Roman"/>
              </a:rPr>
              <a:t>A.</a:t>
            </a:r>
            <a:r>
              <a:rPr sz="1550" spc="-45" dirty="0">
                <a:solidFill>
                  <a:srgbClr val="006600"/>
                </a:solidFill>
                <a:latin typeface="Times New Roman"/>
                <a:cs typeface="Times New Roman"/>
              </a:rPr>
              <a:t> </a:t>
            </a:r>
            <a:r>
              <a:rPr sz="1550" dirty="0">
                <a:solidFill>
                  <a:srgbClr val="006600"/>
                </a:solidFill>
                <a:latin typeface="Times New Roman"/>
                <a:cs typeface="Times New Roman"/>
              </a:rPr>
              <a:t>Rangampet,</a:t>
            </a:r>
            <a:r>
              <a:rPr sz="1550" spc="-35" dirty="0">
                <a:solidFill>
                  <a:srgbClr val="006600"/>
                </a:solidFill>
                <a:latin typeface="Times New Roman"/>
                <a:cs typeface="Times New Roman"/>
              </a:rPr>
              <a:t> </a:t>
            </a:r>
            <a:r>
              <a:rPr sz="1550" dirty="0">
                <a:solidFill>
                  <a:srgbClr val="006600"/>
                </a:solidFill>
                <a:latin typeface="Times New Roman"/>
                <a:cs typeface="Times New Roman"/>
              </a:rPr>
              <a:t>Tirupati</a:t>
            </a:r>
            <a:r>
              <a:rPr sz="1550" spc="-25" dirty="0">
                <a:solidFill>
                  <a:srgbClr val="006600"/>
                </a:solidFill>
                <a:latin typeface="Times New Roman"/>
                <a:cs typeface="Times New Roman"/>
              </a:rPr>
              <a:t> </a:t>
            </a:r>
            <a:r>
              <a:rPr sz="1550" dirty="0">
                <a:solidFill>
                  <a:srgbClr val="006600"/>
                </a:solidFill>
                <a:latin typeface="Times New Roman"/>
                <a:cs typeface="Times New Roman"/>
              </a:rPr>
              <a:t>–</a:t>
            </a:r>
            <a:r>
              <a:rPr sz="1550" spc="-45" dirty="0">
                <a:solidFill>
                  <a:srgbClr val="006600"/>
                </a:solidFill>
                <a:latin typeface="Times New Roman"/>
                <a:cs typeface="Times New Roman"/>
              </a:rPr>
              <a:t> </a:t>
            </a:r>
            <a:r>
              <a:rPr sz="1550" dirty="0">
                <a:solidFill>
                  <a:srgbClr val="006600"/>
                </a:solidFill>
                <a:latin typeface="Times New Roman"/>
                <a:cs typeface="Times New Roman"/>
              </a:rPr>
              <a:t>517</a:t>
            </a:r>
            <a:r>
              <a:rPr sz="1550" spc="-30" dirty="0">
                <a:solidFill>
                  <a:srgbClr val="006600"/>
                </a:solidFill>
                <a:latin typeface="Times New Roman"/>
                <a:cs typeface="Times New Roman"/>
              </a:rPr>
              <a:t> </a:t>
            </a:r>
            <a:r>
              <a:rPr sz="1550" spc="-25" dirty="0">
                <a:solidFill>
                  <a:srgbClr val="006600"/>
                </a:solidFill>
                <a:latin typeface="Times New Roman"/>
                <a:cs typeface="Times New Roman"/>
              </a:rPr>
              <a:t>102</a:t>
            </a:r>
            <a:endParaRPr sz="1550" dirty="0">
              <a:latin typeface="Times New Roman"/>
              <a:cs typeface="Times New Roman"/>
            </a:endParaRPr>
          </a:p>
          <a:p>
            <a:pPr marL="635" algn="ctr">
              <a:lnSpc>
                <a:spcPct val="100000"/>
              </a:lnSpc>
              <a:spcBef>
                <a:spcPts val="305"/>
              </a:spcBef>
            </a:pPr>
            <a:r>
              <a:rPr sz="1750" b="1" spc="-10" dirty="0">
                <a:solidFill>
                  <a:srgbClr val="0000CC"/>
                </a:solidFill>
                <a:latin typeface="Times New Roman"/>
                <a:cs typeface="Times New Roman"/>
              </a:rPr>
              <a:t>2022-</a:t>
            </a:r>
            <a:r>
              <a:rPr sz="1750" b="1" spc="-20" dirty="0">
                <a:solidFill>
                  <a:srgbClr val="0000CC"/>
                </a:solidFill>
                <a:latin typeface="Times New Roman"/>
                <a:cs typeface="Times New Roman"/>
              </a:rPr>
              <a:t>2026</a:t>
            </a:r>
            <a:endParaRPr sz="1750" dirty="0">
              <a:latin typeface="Times New Roman"/>
              <a:cs typeface="Times New Roman"/>
            </a:endParaRPr>
          </a:p>
        </p:txBody>
      </p:sp>
      <p:sp>
        <p:nvSpPr>
          <p:cNvPr id="3" name="object 3"/>
          <p:cNvSpPr txBox="1">
            <a:spLocks noGrp="1"/>
          </p:cNvSpPr>
          <p:nvPr>
            <p:ph type="title"/>
          </p:nvPr>
        </p:nvSpPr>
        <p:spPr>
          <a:xfrm>
            <a:off x="1155700" y="533419"/>
            <a:ext cx="8503460" cy="614977"/>
          </a:xfrm>
          <a:prstGeom prst="rect">
            <a:avLst/>
          </a:prstGeom>
        </p:spPr>
        <p:txBody>
          <a:bodyPr vert="horz" wrap="square" lIns="0" tIns="10795" rIns="0" bIns="0" rtlCol="0">
            <a:spAutoFit/>
          </a:bodyPr>
          <a:lstStyle/>
          <a:p>
            <a:pPr marL="1945005" marR="5080" indent="-1932939" algn="just">
              <a:lnSpc>
                <a:spcPct val="101299"/>
              </a:lnSpc>
              <a:spcBef>
                <a:spcPts val="85"/>
              </a:spcBef>
            </a:pPr>
            <a:r>
              <a:rPr lang="en-US" sz="2000" dirty="0"/>
              <a:t>“A Robust Image Steganography Framework Using Edge Detection and CNN </a:t>
            </a:r>
            <a:br>
              <a:rPr lang="en-US" sz="2000" dirty="0"/>
            </a:br>
            <a:r>
              <a:rPr lang="en-US" sz="2000" dirty="0"/>
              <a:t>           for Secure Data  Hiding”</a:t>
            </a:r>
            <a:endParaRPr sz="2000" dirty="0"/>
          </a:p>
        </p:txBody>
      </p:sp>
      <p:sp>
        <p:nvSpPr>
          <p:cNvPr id="4" name="object 4"/>
          <p:cNvSpPr txBox="1"/>
          <p:nvPr/>
        </p:nvSpPr>
        <p:spPr>
          <a:xfrm>
            <a:off x="4127500" y="1350891"/>
            <a:ext cx="2064615" cy="352019"/>
          </a:xfrm>
          <a:prstGeom prst="rect">
            <a:avLst/>
          </a:prstGeom>
        </p:spPr>
        <p:txBody>
          <a:bodyPr vert="horz" wrap="square" lIns="0" tIns="13335" rIns="0" bIns="0" rtlCol="0">
            <a:spAutoFit/>
          </a:bodyPr>
          <a:lstStyle/>
          <a:p>
            <a:pPr marL="12700">
              <a:lnSpc>
                <a:spcPct val="100000"/>
              </a:lnSpc>
              <a:spcBef>
                <a:spcPts val="105"/>
              </a:spcBef>
            </a:pPr>
            <a:r>
              <a:rPr sz="2200" b="1" dirty="0">
                <a:latin typeface="Times New Roman"/>
                <a:cs typeface="Times New Roman"/>
              </a:rPr>
              <a:t>Batch No:</a:t>
            </a:r>
            <a:r>
              <a:rPr sz="2200" b="1" spc="-15" dirty="0">
                <a:latin typeface="Times New Roman"/>
                <a:cs typeface="Times New Roman"/>
              </a:rPr>
              <a:t> </a:t>
            </a:r>
            <a:r>
              <a:rPr sz="2200" b="1" spc="-10" dirty="0">
                <a:latin typeface="Times New Roman"/>
                <a:cs typeface="Times New Roman"/>
              </a:rPr>
              <a:t>A</a:t>
            </a:r>
            <a:r>
              <a:rPr lang="en-US" sz="2200" b="1" spc="-10" dirty="0">
                <a:latin typeface="Times New Roman"/>
                <a:cs typeface="Times New Roman"/>
              </a:rPr>
              <a:t>3</a:t>
            </a:r>
            <a:r>
              <a:rPr sz="2200" b="1" spc="-10" dirty="0">
                <a:latin typeface="Times New Roman"/>
                <a:cs typeface="Times New Roman"/>
              </a:rPr>
              <a:t>-</a:t>
            </a:r>
            <a:r>
              <a:rPr lang="en-US" sz="2200" b="1" spc="-50" dirty="0">
                <a:latin typeface="Times New Roman"/>
                <a:cs typeface="Times New Roman"/>
              </a:rPr>
              <a:t>11</a:t>
            </a:r>
            <a:endParaRPr sz="2200" dirty="0">
              <a:latin typeface="Times New Roman"/>
              <a:cs typeface="Times New Roman"/>
            </a:endParaRPr>
          </a:p>
        </p:txBody>
      </p:sp>
      <p:sp>
        <p:nvSpPr>
          <p:cNvPr id="5" name="object 5"/>
          <p:cNvSpPr txBox="1"/>
          <p:nvPr/>
        </p:nvSpPr>
        <p:spPr>
          <a:xfrm>
            <a:off x="1705967" y="1933628"/>
            <a:ext cx="7069734" cy="1874488"/>
          </a:xfrm>
          <a:prstGeom prst="rect">
            <a:avLst/>
          </a:prstGeom>
        </p:spPr>
        <p:txBody>
          <a:bodyPr vert="horz" wrap="square" lIns="0" tIns="13335" rIns="0" bIns="0" rtlCol="0">
            <a:spAutoFit/>
          </a:bodyPr>
          <a:lstStyle/>
          <a:p>
            <a:pPr algn="ctr"/>
            <a:r>
              <a:rPr lang="en-US" altLang="en-US" sz="2400" b="1" dirty="0">
                <a:solidFill>
                  <a:schemeClr val="tx1">
                    <a:lumMod val="95000"/>
                    <a:lumOff val="5000"/>
                  </a:schemeClr>
                </a:solidFill>
                <a:latin typeface="Times New Roman" panose="02020603050405020304" pitchFamily="18" charset="0"/>
                <a:cs typeface="Times New Roman" panose="02020603050405020304" pitchFamily="18" charset="0"/>
              </a:rPr>
              <a:t>MURALI REDDY LAVANYA</a:t>
            </a:r>
            <a:r>
              <a:rPr lang="en-IN" altLang="en-US" sz="24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24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22102A040178</a:t>
            </a:r>
          </a:p>
          <a:p>
            <a:pPr algn="ctr"/>
            <a:r>
              <a:rPr lang="en-US" altLang="en-US" sz="2400" b="1" dirty="0">
                <a:solidFill>
                  <a:schemeClr val="tx1">
                    <a:lumMod val="95000"/>
                    <a:lumOff val="5000"/>
                  </a:schemeClr>
                </a:solidFill>
                <a:latin typeface="Times New Roman" panose="02020603050405020304" pitchFamily="18" charset="0"/>
                <a:cs typeface="Times New Roman" panose="02020603050405020304" pitchFamily="18" charset="0"/>
              </a:rPr>
              <a:t>PATNAM NITHIN</a:t>
            </a:r>
            <a:r>
              <a:rPr lang="en-IN" altLang="en-US" sz="24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24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22102A040204</a:t>
            </a:r>
          </a:p>
          <a:p>
            <a:pPr algn="ctr"/>
            <a:r>
              <a:rPr lang="en-US" altLang="en-US" sz="2400" b="1" dirty="0">
                <a:solidFill>
                  <a:schemeClr val="tx1">
                    <a:lumMod val="95000"/>
                    <a:lumOff val="5000"/>
                  </a:schemeClr>
                </a:solidFill>
                <a:latin typeface="Times New Roman" panose="02020603050405020304" pitchFamily="18" charset="0"/>
                <a:cs typeface="Times New Roman" panose="02020603050405020304" pitchFamily="18" charset="0"/>
              </a:rPr>
              <a:t>REDDY VARI TEJA REDDY</a:t>
            </a:r>
            <a:r>
              <a:rPr lang="en-IN" altLang="en-US" sz="24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24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22102A040226</a:t>
            </a:r>
          </a:p>
          <a:p>
            <a:pPr algn="ctr"/>
            <a:r>
              <a:rPr lang="en-US" altLang="en-US" sz="2400" b="1" dirty="0">
                <a:solidFill>
                  <a:schemeClr val="tx1">
                    <a:lumMod val="95000"/>
                    <a:lumOff val="5000"/>
                  </a:schemeClr>
                </a:solidFill>
                <a:latin typeface="Times New Roman" panose="02020603050405020304" pitchFamily="18" charset="0"/>
                <a:cs typeface="Times New Roman" panose="02020603050405020304" pitchFamily="18" charset="0"/>
              </a:rPr>
              <a:t>SHAIK MOHAMMAD TAYEEB</a:t>
            </a:r>
            <a:r>
              <a:rPr lang="en-IN" altLang="en-US" sz="24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24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22102A040246</a:t>
            </a:r>
            <a:endParaRPr lang="en-US" altLang="en-US" sz="24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12700" marR="5080">
              <a:lnSpc>
                <a:spcPct val="120200"/>
              </a:lnSpc>
              <a:spcBef>
                <a:spcPts val="105"/>
              </a:spcBef>
            </a:pPr>
            <a:endParaRPr sz="2200" dirty="0">
              <a:latin typeface="Times New Roman"/>
              <a:cs typeface="Times New Roman"/>
            </a:endParaRPr>
          </a:p>
        </p:txBody>
      </p:sp>
      <p:pic>
        <p:nvPicPr>
          <p:cNvPr id="7" name="object 7"/>
          <p:cNvPicPr/>
          <p:nvPr/>
        </p:nvPicPr>
        <p:blipFill>
          <a:blip r:embed="rId2" cstate="print"/>
          <a:stretch>
            <a:fillRect/>
          </a:stretch>
        </p:blipFill>
        <p:spPr>
          <a:xfrm>
            <a:off x="8369807" y="6385560"/>
            <a:ext cx="1754124" cy="9616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9583" rIns="0" bIns="0" rtlCol="0">
            <a:spAutoFit/>
          </a:bodyPr>
          <a:lstStyle/>
          <a:p>
            <a:pPr marL="474345">
              <a:lnSpc>
                <a:spcPct val="100000"/>
              </a:lnSpc>
              <a:spcBef>
                <a:spcPts val="114"/>
              </a:spcBef>
            </a:pPr>
            <a:r>
              <a:rPr sz="2850" dirty="0"/>
              <a:t>Table</a:t>
            </a:r>
            <a:r>
              <a:rPr sz="2850" spc="-25" dirty="0"/>
              <a:t> </a:t>
            </a:r>
            <a:r>
              <a:rPr sz="2850" dirty="0"/>
              <a:t>of</a:t>
            </a:r>
            <a:r>
              <a:rPr sz="2850" spc="25" dirty="0"/>
              <a:t> </a:t>
            </a:r>
            <a:r>
              <a:rPr sz="2850" spc="-10" dirty="0"/>
              <a:t>Contents</a:t>
            </a:r>
            <a:endParaRPr sz="285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775"/>
              </a:lnSpc>
            </a:pPr>
            <a:fld id="{81D60167-4931-47E6-BA6A-407CBD079E47}" type="slidenum">
              <a:rPr spc="-25" dirty="0"/>
              <a:t>2</a:t>
            </a:fld>
            <a:endParaRPr spc="-25" dirty="0"/>
          </a:p>
        </p:txBody>
      </p:sp>
      <p:sp>
        <p:nvSpPr>
          <p:cNvPr id="3" name="object 3"/>
          <p:cNvSpPr txBox="1"/>
          <p:nvPr/>
        </p:nvSpPr>
        <p:spPr>
          <a:xfrm>
            <a:off x="927100" y="1091086"/>
            <a:ext cx="5517936" cy="5433539"/>
          </a:xfrm>
          <a:prstGeom prst="rect">
            <a:avLst/>
          </a:prstGeom>
        </p:spPr>
        <p:txBody>
          <a:bodyPr vert="horz" wrap="square" lIns="0" tIns="161290" rIns="0" bIns="0" rtlCol="0">
            <a:spAutoFit/>
          </a:bodyPr>
          <a:lstStyle/>
          <a:p>
            <a:pPr marL="390525" indent="-377825">
              <a:lnSpc>
                <a:spcPct val="100000"/>
              </a:lnSpc>
              <a:spcBef>
                <a:spcPts val="1270"/>
              </a:spcBef>
              <a:buFont typeface="Arial MT"/>
              <a:buChar char="•"/>
              <a:tabLst>
                <a:tab pos="390525" algn="l"/>
              </a:tabLst>
            </a:pPr>
            <a:r>
              <a:rPr lang="en-US" sz="1950" spc="-10" dirty="0">
                <a:latin typeface="Times New Roman"/>
                <a:cs typeface="Times New Roman"/>
              </a:rPr>
              <a:t>Abstract</a:t>
            </a:r>
            <a:endParaRPr sz="1950" dirty="0">
              <a:latin typeface="Times New Roman"/>
              <a:cs typeface="Times New Roman"/>
            </a:endParaRPr>
          </a:p>
          <a:p>
            <a:pPr marL="390525" indent="-377825">
              <a:lnSpc>
                <a:spcPct val="100000"/>
              </a:lnSpc>
              <a:spcBef>
                <a:spcPts val="1175"/>
              </a:spcBef>
              <a:buFont typeface="Arial MT"/>
              <a:buChar char="•"/>
              <a:tabLst>
                <a:tab pos="390525" algn="l"/>
              </a:tabLst>
            </a:pPr>
            <a:r>
              <a:rPr lang="en-US" sz="1950" spc="-10" dirty="0">
                <a:latin typeface="Times New Roman"/>
                <a:cs typeface="Times New Roman"/>
              </a:rPr>
              <a:t>Introduction</a:t>
            </a:r>
            <a:endParaRPr sz="1950" dirty="0">
              <a:latin typeface="Times New Roman"/>
              <a:cs typeface="Times New Roman"/>
            </a:endParaRPr>
          </a:p>
          <a:p>
            <a:pPr marL="390525" indent="-377825">
              <a:lnSpc>
                <a:spcPct val="100000"/>
              </a:lnSpc>
              <a:spcBef>
                <a:spcPts val="1175"/>
              </a:spcBef>
              <a:buFont typeface="Arial MT"/>
              <a:buChar char="•"/>
              <a:tabLst>
                <a:tab pos="390525" algn="l"/>
              </a:tabLst>
            </a:pPr>
            <a:r>
              <a:rPr lang="en-US" sz="1950" dirty="0">
                <a:latin typeface="Times New Roman"/>
                <a:cs typeface="Times New Roman"/>
              </a:rPr>
              <a:t>Problem Statement</a:t>
            </a:r>
          </a:p>
          <a:p>
            <a:pPr marL="390525" indent="-377825">
              <a:lnSpc>
                <a:spcPct val="100000"/>
              </a:lnSpc>
              <a:spcBef>
                <a:spcPts val="1175"/>
              </a:spcBef>
              <a:buFont typeface="Arial MT"/>
              <a:buChar char="•"/>
              <a:tabLst>
                <a:tab pos="390525" algn="l"/>
              </a:tabLst>
            </a:pPr>
            <a:r>
              <a:rPr lang="en-US" sz="1950" spc="-10" dirty="0">
                <a:latin typeface="Times New Roman"/>
                <a:cs typeface="Times New Roman"/>
              </a:rPr>
              <a:t>Objectives</a:t>
            </a:r>
          </a:p>
          <a:p>
            <a:pPr marL="390525" indent="-377825">
              <a:lnSpc>
                <a:spcPct val="100000"/>
              </a:lnSpc>
              <a:spcBef>
                <a:spcPts val="1175"/>
              </a:spcBef>
              <a:buFont typeface="Arial MT"/>
              <a:buChar char="•"/>
              <a:tabLst>
                <a:tab pos="390525" algn="l"/>
              </a:tabLst>
            </a:pPr>
            <a:r>
              <a:rPr lang="en-US" sz="1950" spc="-10" dirty="0">
                <a:latin typeface="Times New Roman"/>
                <a:cs typeface="Times New Roman"/>
              </a:rPr>
              <a:t>Applications</a:t>
            </a:r>
          </a:p>
          <a:p>
            <a:pPr marL="390525" indent="-377825">
              <a:spcBef>
                <a:spcPts val="1175"/>
              </a:spcBef>
              <a:buFont typeface="Arial MT"/>
              <a:buChar char="•"/>
              <a:tabLst>
                <a:tab pos="390525" algn="l"/>
              </a:tabLst>
            </a:pPr>
            <a:r>
              <a:rPr lang="en-US" sz="1800" dirty="0"/>
              <a:t>Literature Survey &amp; Research Gaps Identified</a:t>
            </a:r>
            <a:endParaRPr lang="en-US" sz="1950" spc="-10" dirty="0">
              <a:latin typeface="Times New Roman"/>
              <a:cs typeface="Times New Roman"/>
            </a:endParaRPr>
          </a:p>
          <a:p>
            <a:pPr marL="390525" indent="-377825">
              <a:lnSpc>
                <a:spcPct val="100000"/>
              </a:lnSpc>
              <a:spcBef>
                <a:spcPts val="1175"/>
              </a:spcBef>
              <a:buFont typeface="Arial MT"/>
              <a:buChar char="•"/>
              <a:tabLst>
                <a:tab pos="390525" algn="l"/>
              </a:tabLst>
            </a:pPr>
            <a:r>
              <a:rPr lang="en-US" sz="1950" spc="-10" dirty="0">
                <a:latin typeface="Times New Roman"/>
                <a:cs typeface="Times New Roman"/>
              </a:rPr>
              <a:t>Proposed System Design</a:t>
            </a:r>
          </a:p>
          <a:p>
            <a:pPr marL="390525" indent="-377825">
              <a:lnSpc>
                <a:spcPct val="100000"/>
              </a:lnSpc>
              <a:spcBef>
                <a:spcPts val="1175"/>
              </a:spcBef>
              <a:buFont typeface="Arial MT"/>
              <a:buChar char="•"/>
              <a:tabLst>
                <a:tab pos="390525" algn="l"/>
              </a:tabLst>
            </a:pPr>
            <a:r>
              <a:rPr lang="en-US" sz="1950" spc="-10" dirty="0">
                <a:latin typeface="Times New Roman"/>
                <a:cs typeface="Times New Roman"/>
              </a:rPr>
              <a:t>Dataset Description</a:t>
            </a:r>
          </a:p>
          <a:p>
            <a:pPr marL="390525" indent="-377825">
              <a:lnSpc>
                <a:spcPct val="100000"/>
              </a:lnSpc>
              <a:spcBef>
                <a:spcPts val="1175"/>
              </a:spcBef>
              <a:buFont typeface="Arial MT"/>
              <a:buChar char="•"/>
              <a:tabLst>
                <a:tab pos="390525" algn="l"/>
              </a:tabLst>
            </a:pPr>
            <a:r>
              <a:rPr lang="en-US" sz="1950" spc="-10" dirty="0">
                <a:latin typeface="Times New Roman"/>
                <a:cs typeface="Times New Roman"/>
              </a:rPr>
              <a:t>Software and Hardware Components</a:t>
            </a:r>
          </a:p>
          <a:p>
            <a:pPr marL="390525" indent="-377825">
              <a:lnSpc>
                <a:spcPct val="100000"/>
              </a:lnSpc>
              <a:spcBef>
                <a:spcPts val="1175"/>
              </a:spcBef>
              <a:buFont typeface="Arial MT"/>
              <a:buChar char="•"/>
              <a:tabLst>
                <a:tab pos="390525" algn="l"/>
              </a:tabLst>
            </a:pPr>
            <a:r>
              <a:rPr lang="en-US" sz="1950" spc="-10" dirty="0">
                <a:latin typeface="Times New Roman"/>
                <a:cs typeface="Times New Roman"/>
              </a:rPr>
              <a:t>Performance Evaluation</a:t>
            </a:r>
          </a:p>
          <a:p>
            <a:pPr marL="390525" indent="-377825">
              <a:lnSpc>
                <a:spcPct val="100000"/>
              </a:lnSpc>
              <a:spcBef>
                <a:spcPts val="1175"/>
              </a:spcBef>
              <a:buFont typeface="Arial MT"/>
              <a:buChar char="•"/>
              <a:tabLst>
                <a:tab pos="390525" algn="l"/>
              </a:tabLst>
            </a:pPr>
            <a:r>
              <a:rPr lang="en-US" sz="1950" spc="-10" dirty="0">
                <a:latin typeface="Times New Roman"/>
                <a:cs typeface="Times New Roman"/>
              </a:rPr>
              <a:t>Conclusion</a:t>
            </a:r>
          </a:p>
          <a:p>
            <a:pPr marL="390525" indent="-377825">
              <a:lnSpc>
                <a:spcPct val="100000"/>
              </a:lnSpc>
              <a:spcBef>
                <a:spcPts val="1175"/>
              </a:spcBef>
              <a:buFont typeface="Arial MT"/>
              <a:buChar char="•"/>
              <a:tabLst>
                <a:tab pos="390525" algn="l"/>
              </a:tabLst>
            </a:pPr>
            <a:r>
              <a:rPr lang="en-US" sz="1950" spc="-10" dirty="0">
                <a:latin typeface="Times New Roman"/>
                <a:cs typeface="Times New Roman"/>
              </a:rPr>
              <a:t>References</a:t>
            </a:r>
            <a:endParaRPr sz="195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41DB5-7497-8F02-B5AB-A71D03F4AC0C}"/>
              </a:ext>
            </a:extLst>
          </p:cNvPr>
          <p:cNvSpPr>
            <a:spLocks noGrp="1"/>
          </p:cNvSpPr>
          <p:nvPr>
            <p:ph type="title"/>
          </p:nvPr>
        </p:nvSpPr>
        <p:spPr>
          <a:xfrm>
            <a:off x="3289300" y="504825"/>
            <a:ext cx="3723449" cy="538609"/>
          </a:xfrm>
        </p:spPr>
        <p:txBody>
          <a:bodyPr/>
          <a:lstStyle/>
          <a:p>
            <a:r>
              <a:rPr lang="en-US" dirty="0"/>
              <a:t>       Abstract</a:t>
            </a:r>
            <a:endParaRPr lang="en-IN" dirty="0"/>
          </a:p>
        </p:txBody>
      </p:sp>
      <p:sp>
        <p:nvSpPr>
          <p:cNvPr id="3" name="Text Placeholder 2">
            <a:extLst>
              <a:ext uri="{FF2B5EF4-FFF2-40B4-BE49-F238E27FC236}">
                <a16:creationId xmlns:a16="http://schemas.microsoft.com/office/drawing/2014/main" id="{F50D9DCE-AE9D-5630-58EC-DC783E397117}"/>
              </a:ext>
            </a:extLst>
          </p:cNvPr>
          <p:cNvSpPr>
            <a:spLocks noGrp="1"/>
          </p:cNvSpPr>
          <p:nvPr>
            <p:ph type="body" idx="1"/>
          </p:nvPr>
        </p:nvSpPr>
        <p:spPr>
          <a:xfrm>
            <a:off x="959484" y="1343025"/>
            <a:ext cx="8774430" cy="5232202"/>
          </a:xfrm>
        </p:spPr>
        <p:txBody>
          <a:bodyPr/>
          <a:lstStyle/>
          <a:p>
            <a:pPr algn="l"/>
            <a:r>
              <a:rPr lang="en-US" sz="2000" dirty="0"/>
              <a:t>Steganography has emerged as an effective technique for secure communication, where secret data is concealed within digital images to prevent unauthorized access. However, conventional methods such as Least Significant Bit (LSB) substitution suffer from low robustness, reduced security, and high vulnerability to detection through steganalysis. These limitations make traditional steganography unsuitable for modern secure communication, especially when images undergo common processing operations such as compression, noise addition, and filtering.</a:t>
            </a:r>
            <a:br>
              <a:rPr lang="en-US" sz="2000" dirty="0"/>
            </a:br>
            <a:br>
              <a:rPr lang="en-US" sz="2000" dirty="0"/>
            </a:br>
            <a:r>
              <a:rPr lang="en-US" sz="2000" dirty="0"/>
              <a:t>To overcome these challenges, this project proposes a robust image steganography framework that integrates edge detection with Convolutional Neural Networks (CNN). Edge detection is applied to the cover image to identify high-frequency regions where embedding is less noticeable to the Human Visual System (HVS). A CNN model is then used to optimize both embedding and extraction by learning suitable pixel positions and minimizing distortion. Experimental evaluation shows high PSNR and SSIM values for maintaining visual quality, along with low BER for accurate data recovery, confirming that the proposed approach achieves a strong balance between imperceptibility, robustness, and security.</a:t>
            </a:r>
            <a:endParaRPr lang="en-IN" sz="1800" dirty="0"/>
          </a:p>
        </p:txBody>
      </p:sp>
    </p:spTree>
    <p:extLst>
      <p:ext uri="{BB962C8B-B14F-4D97-AF65-F5344CB8AC3E}">
        <p14:creationId xmlns:p14="http://schemas.microsoft.com/office/powerpoint/2010/main" val="3363055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5AD4A-9352-4EC3-3579-45F1846108ED}"/>
              </a:ext>
            </a:extLst>
          </p:cNvPr>
          <p:cNvSpPr>
            <a:spLocks noGrp="1"/>
          </p:cNvSpPr>
          <p:nvPr>
            <p:ph type="title"/>
          </p:nvPr>
        </p:nvSpPr>
        <p:spPr>
          <a:xfrm>
            <a:off x="1960976" y="486742"/>
            <a:ext cx="5214524" cy="538609"/>
          </a:xfrm>
        </p:spPr>
        <p:txBody>
          <a:bodyPr/>
          <a:lstStyle/>
          <a:p>
            <a:r>
              <a:rPr lang="en-US" dirty="0"/>
              <a:t>                Introduction</a:t>
            </a:r>
            <a:endParaRPr lang="en-IN" dirty="0"/>
          </a:p>
        </p:txBody>
      </p:sp>
      <p:sp>
        <p:nvSpPr>
          <p:cNvPr id="3" name="Text Placeholder 2">
            <a:extLst>
              <a:ext uri="{FF2B5EF4-FFF2-40B4-BE49-F238E27FC236}">
                <a16:creationId xmlns:a16="http://schemas.microsoft.com/office/drawing/2014/main" id="{777B5330-51F9-277B-AD6C-290534816FC7}"/>
              </a:ext>
            </a:extLst>
          </p:cNvPr>
          <p:cNvSpPr>
            <a:spLocks noGrp="1"/>
          </p:cNvSpPr>
          <p:nvPr>
            <p:ph type="body" idx="1"/>
          </p:nvPr>
        </p:nvSpPr>
        <p:spPr>
          <a:xfrm>
            <a:off x="959485" y="1266825"/>
            <a:ext cx="8774430" cy="5539978"/>
          </a:xfrm>
        </p:spPr>
        <p:txBody>
          <a:bodyPr/>
          <a:lstStyle/>
          <a:p>
            <a:r>
              <a:rPr lang="en-US" sz="2000" dirty="0"/>
              <a:t>	In the modern digital era, secure communication has become a major concern due to the rapid growth of internet usage and the frequent sharing of multimedia data. Images are one of the most commonly exchanged forms of digital content through social media, cloud platforms, and communication networks, making them an ideal medium for hiding confidential information. Unlike encryption, which makes the presence of secret data obvious, steganography hides information inside images in such a way that it remains invisible to unauthorized users.</a:t>
            </a:r>
          </a:p>
          <a:p>
            <a:endParaRPr lang="en-US" sz="2000" dirty="0"/>
          </a:p>
          <a:p>
            <a:r>
              <a:rPr lang="en-US" sz="2000" dirty="0"/>
              <a:t>	Traditional image steganography techniques such as Least Significant Bit (LSB) embedding are widely used because they are simple and provide good visual quality. However, these methods are weak in terms of robustness and security, as they can be easily detected using steganalysis and the hidden data may be destroyed when the image undergoes compression, noise, or filtering. To overcome these limitations, this project proposes a robust image steganography framework that combines edge detection and Convolutional Neural Networks (CNN). Edge detection helps identify high-frequency regions where embedding is less noticeable, while CNN improves the embedding and extraction process by learning optimal pixel locations, resulting in improved imperceptibility, robustness, and secure data recovery.</a:t>
            </a:r>
            <a:endParaRPr lang="en-IN" sz="2000" dirty="0"/>
          </a:p>
        </p:txBody>
      </p:sp>
    </p:spTree>
    <p:extLst>
      <p:ext uri="{BB962C8B-B14F-4D97-AF65-F5344CB8AC3E}">
        <p14:creationId xmlns:p14="http://schemas.microsoft.com/office/powerpoint/2010/main" val="137134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77B67-2CE6-5C88-728D-47939F957834}"/>
              </a:ext>
            </a:extLst>
          </p:cNvPr>
          <p:cNvSpPr>
            <a:spLocks noGrp="1"/>
          </p:cNvSpPr>
          <p:nvPr>
            <p:ph type="title"/>
          </p:nvPr>
        </p:nvSpPr>
        <p:spPr>
          <a:xfrm>
            <a:off x="2527300" y="504825"/>
            <a:ext cx="4604924" cy="538609"/>
          </a:xfrm>
        </p:spPr>
        <p:txBody>
          <a:bodyPr/>
          <a:lstStyle/>
          <a:p>
            <a:r>
              <a:rPr lang="en-US" dirty="0"/>
              <a:t>      Problem Statement</a:t>
            </a:r>
            <a:endParaRPr lang="en-IN" dirty="0"/>
          </a:p>
        </p:txBody>
      </p:sp>
      <p:sp>
        <p:nvSpPr>
          <p:cNvPr id="3" name="Text Placeholder 2">
            <a:extLst>
              <a:ext uri="{FF2B5EF4-FFF2-40B4-BE49-F238E27FC236}">
                <a16:creationId xmlns:a16="http://schemas.microsoft.com/office/drawing/2014/main" id="{C49C46EC-7519-C0B2-1D62-88F5474819EB}"/>
              </a:ext>
            </a:extLst>
          </p:cNvPr>
          <p:cNvSpPr>
            <a:spLocks noGrp="1"/>
          </p:cNvSpPr>
          <p:nvPr>
            <p:ph type="body" idx="1"/>
          </p:nvPr>
        </p:nvSpPr>
        <p:spPr>
          <a:xfrm>
            <a:off x="959485" y="1111717"/>
            <a:ext cx="8774430" cy="5946308"/>
          </a:xfrm>
        </p:spPr>
        <p:txBody>
          <a:bodyPr/>
          <a:lstStyle/>
          <a:p>
            <a:pPr marL="285750" indent="-285750">
              <a:lnSpc>
                <a:spcPct val="150000"/>
              </a:lnSpc>
              <a:buFont typeface="Arial" panose="020B0604020202020204" pitchFamily="34" charset="0"/>
              <a:buChar char="•"/>
            </a:pPr>
            <a:r>
              <a:rPr lang="en-US" sz="2000" dirty="0"/>
              <a:t>Traditional image steganography techniques such as </a:t>
            </a:r>
            <a:r>
              <a:rPr lang="en-US" sz="2000" b="1" dirty="0"/>
              <a:t>LSB embedding</a:t>
            </a:r>
            <a:r>
              <a:rPr lang="en-US" sz="2000" dirty="0"/>
              <a:t> do not provide a proper balance between </a:t>
            </a:r>
            <a:r>
              <a:rPr lang="en-US" sz="2000" b="1" dirty="0"/>
              <a:t>security, imperceptibility, and robustness</a:t>
            </a:r>
            <a:r>
              <a:rPr lang="en-US" sz="2000" dirty="0"/>
              <a:t>.</a:t>
            </a:r>
          </a:p>
          <a:p>
            <a:pPr marL="285750" indent="-285750">
              <a:lnSpc>
                <a:spcPct val="150000"/>
              </a:lnSpc>
              <a:buFont typeface="Arial" panose="020B0604020202020204" pitchFamily="34" charset="0"/>
              <a:buChar char="•"/>
            </a:pPr>
            <a:r>
              <a:rPr lang="en-US" sz="2000" dirty="0"/>
              <a:t>These methods are easily detectable through </a:t>
            </a:r>
            <a:r>
              <a:rPr lang="en-US" sz="2000" b="1" dirty="0"/>
              <a:t>steganalysis</a:t>
            </a:r>
            <a:r>
              <a:rPr lang="en-US" sz="2000" dirty="0"/>
              <a:t>, making hidden communication insecure.</a:t>
            </a:r>
          </a:p>
          <a:p>
            <a:pPr marL="285750" indent="-285750">
              <a:lnSpc>
                <a:spcPct val="150000"/>
              </a:lnSpc>
              <a:buFont typeface="Arial" panose="020B0604020202020204" pitchFamily="34" charset="0"/>
              <a:buChar char="•"/>
            </a:pPr>
            <a:r>
              <a:rPr lang="en-US" sz="2000" dirty="0"/>
              <a:t>The hidden data can be lost or corrupted when the </a:t>
            </a:r>
            <a:r>
              <a:rPr lang="en-US" sz="2000" dirty="0" err="1"/>
              <a:t>stego</a:t>
            </a:r>
            <a:r>
              <a:rPr lang="en-US" sz="2000" dirty="0"/>
              <a:t> image undergoes common image processing operations such as </a:t>
            </a:r>
            <a:r>
              <a:rPr lang="en-US" sz="2000" b="1" dirty="0"/>
              <a:t>JPEG compression, noise addition, and filtering</a:t>
            </a:r>
            <a:r>
              <a:rPr lang="en-US" sz="2000" dirty="0"/>
              <a:t>.</a:t>
            </a:r>
          </a:p>
          <a:p>
            <a:pPr marL="285750" indent="-285750">
              <a:lnSpc>
                <a:spcPct val="150000"/>
              </a:lnSpc>
              <a:buFont typeface="Arial" panose="020B0604020202020204" pitchFamily="34" charset="0"/>
              <a:buChar char="•"/>
            </a:pPr>
            <a:r>
              <a:rPr lang="en-US" sz="2000" dirty="0"/>
              <a:t>Uniform embedding across the image may create </a:t>
            </a:r>
            <a:r>
              <a:rPr lang="en-US" sz="2000" b="1" dirty="0"/>
              <a:t>noticeable distortion</a:t>
            </a:r>
            <a:r>
              <a:rPr lang="en-US" sz="2000" dirty="0"/>
              <a:t>, reducing the visual quality of the </a:t>
            </a:r>
            <a:r>
              <a:rPr lang="en-US" sz="2000" dirty="0" err="1"/>
              <a:t>stego</a:t>
            </a:r>
            <a:r>
              <a:rPr lang="en-US" sz="2000" dirty="0"/>
              <a:t> image.</a:t>
            </a:r>
          </a:p>
          <a:p>
            <a:pPr marL="285750" indent="-285750">
              <a:lnSpc>
                <a:spcPct val="150000"/>
              </a:lnSpc>
              <a:buFont typeface="Arial" panose="020B0604020202020204" pitchFamily="34" charset="0"/>
              <a:buChar char="•"/>
            </a:pPr>
            <a:r>
              <a:rPr lang="en-US" sz="2000" dirty="0"/>
              <a:t>Hence, there is a need for a </a:t>
            </a:r>
            <a:r>
              <a:rPr lang="en-US" sz="2000" b="1" dirty="0"/>
              <a:t>robust and intelligent steganography framework</a:t>
            </a:r>
            <a:r>
              <a:rPr lang="en-US" sz="2000" dirty="0"/>
              <a:t> that uses </a:t>
            </a:r>
            <a:r>
              <a:rPr lang="en-US" sz="2000" b="1" dirty="0"/>
              <a:t>edge detection</a:t>
            </a:r>
            <a:r>
              <a:rPr lang="en-US" sz="2000" dirty="0"/>
              <a:t> to select suitable embedding regions and </a:t>
            </a:r>
            <a:r>
              <a:rPr lang="en-US" sz="2000" b="1" dirty="0"/>
              <a:t>CNN</a:t>
            </a:r>
            <a:r>
              <a:rPr lang="en-US" sz="2000" dirty="0"/>
              <a:t> to optimize embedding and extraction while maintaining high image quality and strong attack resistance.</a:t>
            </a:r>
            <a:endParaRPr lang="en-IN" sz="2000" dirty="0"/>
          </a:p>
        </p:txBody>
      </p:sp>
    </p:spTree>
    <p:extLst>
      <p:ext uri="{BB962C8B-B14F-4D97-AF65-F5344CB8AC3E}">
        <p14:creationId xmlns:p14="http://schemas.microsoft.com/office/powerpoint/2010/main" val="1325993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875" rIns="0" bIns="0" rtlCol="0">
            <a:spAutoFit/>
          </a:bodyPr>
          <a:lstStyle/>
          <a:p>
            <a:pPr marL="850265">
              <a:lnSpc>
                <a:spcPct val="100000"/>
              </a:lnSpc>
              <a:spcBef>
                <a:spcPts val="125"/>
              </a:spcBef>
            </a:pPr>
            <a:r>
              <a:rPr spc="-10" dirty="0"/>
              <a:t>Objectives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775"/>
              </a:lnSpc>
            </a:pPr>
            <a:fld id="{81D60167-4931-47E6-BA6A-407CBD079E47}" type="slidenum">
              <a:rPr spc="-25" dirty="0"/>
              <a:t>6</a:t>
            </a:fld>
            <a:endParaRPr spc="-25" dirty="0"/>
          </a:p>
        </p:txBody>
      </p:sp>
      <p:sp>
        <p:nvSpPr>
          <p:cNvPr id="3" name="object 3"/>
          <p:cNvSpPr txBox="1">
            <a:spLocks noGrp="1"/>
          </p:cNvSpPr>
          <p:nvPr>
            <p:ph type="body" idx="1"/>
          </p:nvPr>
        </p:nvSpPr>
        <p:spPr>
          <a:xfrm>
            <a:off x="726973" y="931492"/>
            <a:ext cx="8734527" cy="6111955"/>
          </a:xfrm>
          <a:prstGeom prst="rect">
            <a:avLst/>
          </a:prstGeom>
        </p:spPr>
        <p:txBody>
          <a:bodyPr vert="horz" wrap="square" lIns="0" tIns="62953" rIns="0" bIns="0" rtlCol="0">
            <a:spAutoFit/>
          </a:bodyPr>
          <a:lstStyle/>
          <a:p>
            <a:pPr marL="390525" marR="6350" indent="-378460">
              <a:lnSpc>
                <a:spcPct val="150000"/>
              </a:lnSpc>
              <a:buSzPct val="118181"/>
              <a:buFont typeface="+mj-lt"/>
              <a:buAutoNum type="arabicPeriod"/>
              <a:tabLst>
                <a:tab pos="390525" algn="l"/>
              </a:tabLst>
            </a:pPr>
            <a:r>
              <a:rPr lang="en-US" dirty="0"/>
              <a:t>The Primary objective is To design and develop a </a:t>
            </a:r>
            <a:r>
              <a:rPr lang="en-US" b="1" dirty="0"/>
              <a:t>robust image steganography framework</a:t>
            </a:r>
            <a:r>
              <a:rPr lang="en-US" dirty="0"/>
              <a:t> for secure data hiding in digital images, ensuring that the secret information remains confidential and the </a:t>
            </a:r>
            <a:r>
              <a:rPr lang="en-US" dirty="0" err="1"/>
              <a:t>stego</a:t>
            </a:r>
            <a:r>
              <a:rPr lang="en-US" dirty="0"/>
              <a:t> image appears visually similar to the original cover image..</a:t>
            </a:r>
          </a:p>
          <a:p>
            <a:pPr marL="390525" marR="6350" indent="-378460">
              <a:lnSpc>
                <a:spcPct val="150000"/>
              </a:lnSpc>
              <a:buSzPct val="118181"/>
              <a:buFont typeface="+mj-lt"/>
              <a:buAutoNum type="arabicPeriod"/>
              <a:tabLst>
                <a:tab pos="390525" algn="l"/>
              </a:tabLst>
            </a:pPr>
            <a:r>
              <a:rPr lang="en-US" dirty="0"/>
              <a:t>To apply </a:t>
            </a:r>
            <a:r>
              <a:rPr lang="en-US" b="1" dirty="0"/>
              <a:t>edge detection techniques</a:t>
            </a:r>
            <a:r>
              <a:rPr lang="en-US" dirty="0"/>
              <a:t> such as </a:t>
            </a:r>
            <a:r>
              <a:rPr lang="en-US" b="1" dirty="0"/>
              <a:t>Canny, Sobel, and HED (Holistically Nested Edge Detection)</a:t>
            </a:r>
            <a:r>
              <a:rPr lang="en-US" dirty="0"/>
              <a:t> to identify </a:t>
            </a:r>
            <a:r>
              <a:rPr lang="en-US" b="1" dirty="0"/>
              <a:t>high-frequency edge regions</a:t>
            </a:r>
            <a:r>
              <a:rPr lang="en-US" dirty="0"/>
              <a:t>, because embedding in these regions is less noticeable to the </a:t>
            </a:r>
            <a:r>
              <a:rPr lang="en-US" b="1" dirty="0"/>
              <a:t>Human Visual System (HVS)</a:t>
            </a:r>
            <a:r>
              <a:rPr lang="en-US" dirty="0"/>
              <a:t> and improves imperceptibility.</a:t>
            </a:r>
          </a:p>
          <a:p>
            <a:pPr marL="390525" marR="6350" indent="-378460">
              <a:lnSpc>
                <a:spcPct val="150000"/>
              </a:lnSpc>
              <a:buSzPct val="118181"/>
              <a:buFont typeface="+mj-lt"/>
              <a:buAutoNum type="arabicPeriod"/>
              <a:tabLst>
                <a:tab pos="390525" algn="l"/>
              </a:tabLst>
            </a:pPr>
            <a:r>
              <a:rPr lang="en-US" dirty="0"/>
              <a:t>To integrate a </a:t>
            </a:r>
            <a:r>
              <a:rPr lang="en-US" b="1" dirty="0"/>
              <a:t>CNN-based encoder–decoder model</a:t>
            </a:r>
            <a:r>
              <a:rPr lang="en-US" dirty="0"/>
              <a:t> to optimize the </a:t>
            </a:r>
            <a:r>
              <a:rPr lang="en-US" b="1" dirty="0"/>
              <a:t>embedding and extraction process</a:t>
            </a:r>
            <a:r>
              <a:rPr lang="en-US" dirty="0"/>
              <a:t>, by automatically learning suitable pixel positions, reducing embedding distortion, and improving the accuracy of recovering the hidden message from the </a:t>
            </a:r>
            <a:r>
              <a:rPr lang="en-US" dirty="0" err="1"/>
              <a:t>stego</a:t>
            </a:r>
            <a:r>
              <a:rPr lang="en-US" dirty="0"/>
              <a:t> image.</a:t>
            </a:r>
          </a:p>
          <a:p>
            <a:pPr marL="390525" marR="6350" indent="-378460">
              <a:lnSpc>
                <a:spcPct val="150000"/>
              </a:lnSpc>
              <a:buSzPct val="118181"/>
              <a:buFont typeface="+mj-lt"/>
              <a:buAutoNum type="arabicPeriod"/>
              <a:tabLst>
                <a:tab pos="390525" algn="l"/>
              </a:tabLst>
            </a:pPr>
            <a:r>
              <a:rPr lang="en-US" dirty="0"/>
              <a:t>To improve the system’s </a:t>
            </a:r>
            <a:r>
              <a:rPr lang="en-US" b="1" dirty="0"/>
              <a:t>imperceptibility and visual quality</a:t>
            </a:r>
            <a:r>
              <a:rPr lang="en-US" dirty="0"/>
              <a:t> by minimizing visible distortion in the </a:t>
            </a:r>
            <a:r>
              <a:rPr lang="en-US" dirty="0" err="1"/>
              <a:t>stego</a:t>
            </a:r>
            <a:r>
              <a:rPr lang="en-US" dirty="0"/>
              <a:t> image and achieving higher performance in terms of </a:t>
            </a:r>
            <a:r>
              <a:rPr lang="en-US" b="1" dirty="0"/>
              <a:t>PSNR (Peak Signal-to-Noise Ratio)</a:t>
            </a:r>
            <a:r>
              <a:rPr lang="en-US" dirty="0"/>
              <a:t> and </a:t>
            </a:r>
            <a:r>
              <a:rPr lang="en-US" b="1" dirty="0"/>
              <a:t>SSIM (Structural Similarity Index)</a:t>
            </a:r>
            <a:r>
              <a:rPr lang="en-US" dirty="0"/>
              <a:t> compared to traditional steganography methods.</a:t>
            </a:r>
          </a:p>
          <a:p>
            <a:pPr marL="390525" marR="6350" indent="-378460">
              <a:lnSpc>
                <a:spcPct val="150000"/>
              </a:lnSpc>
              <a:buSzPct val="118181"/>
              <a:buFont typeface="+mj-lt"/>
              <a:buAutoNum type="arabicPeriod"/>
              <a:tabLst>
                <a:tab pos="390525" algn="l"/>
              </a:tabLst>
            </a:pPr>
            <a:r>
              <a:rPr lang="en-US" dirty="0"/>
              <a:t>To ensure strong </a:t>
            </a:r>
            <a:r>
              <a:rPr lang="en-US" b="1" dirty="0"/>
              <a:t>robustness and security</a:t>
            </a:r>
            <a:r>
              <a:rPr lang="en-US" dirty="0"/>
              <a:t> by making the hidden data resistant to common image processing operations such as </a:t>
            </a:r>
            <a:r>
              <a:rPr lang="en-US" b="1" dirty="0"/>
              <a:t>JPEG compression, noise addition, and filtering</a:t>
            </a:r>
            <a:r>
              <a:rPr lang="en-US" dirty="0"/>
              <a:t>, while maintaining </a:t>
            </a:r>
            <a:r>
              <a:rPr lang="en-US" b="1" dirty="0"/>
              <a:t>low BER (Bit Error Rate)</a:t>
            </a:r>
            <a:r>
              <a:rPr lang="en-US" dirty="0"/>
              <a:t> and improving resistance against </a:t>
            </a:r>
            <a:r>
              <a:rPr lang="en-US" b="1" dirty="0"/>
              <a:t>steganalysis detection techniques</a:t>
            </a:r>
            <a:r>
              <a:rPr lang="en-US" dirty="0"/>
              <a:t>.. </a:t>
            </a:r>
            <a:endParaRPr lang="en-US" b="1" spc="-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AD4EA-CFD4-8003-DA92-A0C8E36D7AA5}"/>
              </a:ext>
            </a:extLst>
          </p:cNvPr>
          <p:cNvSpPr>
            <a:spLocks noGrp="1"/>
          </p:cNvSpPr>
          <p:nvPr>
            <p:ph type="title"/>
          </p:nvPr>
        </p:nvSpPr>
        <p:spPr>
          <a:xfrm>
            <a:off x="3484975" y="368247"/>
            <a:ext cx="3723449" cy="538609"/>
          </a:xfrm>
        </p:spPr>
        <p:txBody>
          <a:bodyPr/>
          <a:lstStyle/>
          <a:p>
            <a:r>
              <a:rPr lang="en-US" dirty="0"/>
              <a:t>  Applications</a:t>
            </a:r>
            <a:endParaRPr lang="en-IN" dirty="0"/>
          </a:p>
        </p:txBody>
      </p:sp>
      <p:sp>
        <p:nvSpPr>
          <p:cNvPr id="4" name="Rectangle 1">
            <a:extLst>
              <a:ext uri="{FF2B5EF4-FFF2-40B4-BE49-F238E27FC236}">
                <a16:creationId xmlns:a16="http://schemas.microsoft.com/office/drawing/2014/main" id="{1E14A751-E722-74F8-850C-B08EE97A0EB1}"/>
              </a:ext>
            </a:extLst>
          </p:cNvPr>
          <p:cNvSpPr>
            <a:spLocks noGrp="1" noChangeArrowheads="1"/>
          </p:cNvSpPr>
          <p:nvPr>
            <p:ph type="body" idx="1"/>
          </p:nvPr>
        </p:nvSpPr>
        <p:spPr bwMode="auto">
          <a:xfrm>
            <a:off x="988955" y="906856"/>
            <a:ext cx="8715487"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Communication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Hiding confidential messages within images for safe transmission over public networks.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Military &amp; Defense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for covert communication and secure exchange of sensitive information.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Banking &amp; Financial Security</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Protecting transaction details, credentials, and sensitive financial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Privacy &amp; Protection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Safeguarding personal data such as medical records, legal documents, and identity information.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Watermarking &amp; Copyright Protection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Embedding ownership information in images to prevent unauthorized use.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Cybersecurity Applications</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Preventing data leakage by hiding information in seemingly harmless files.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Cloud Storage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Storing sensitive data inside images before uploading to cloud platforms.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Confidential Document Transmission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Sending classified information without attracting attention. </a:t>
            </a:r>
          </a:p>
        </p:txBody>
      </p:sp>
    </p:spTree>
    <p:extLst>
      <p:ext uri="{BB962C8B-B14F-4D97-AF65-F5344CB8AC3E}">
        <p14:creationId xmlns:p14="http://schemas.microsoft.com/office/powerpoint/2010/main" val="4216095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6100" y="323644"/>
            <a:ext cx="8458199" cy="554639"/>
          </a:xfrm>
          <a:prstGeom prst="rect">
            <a:avLst/>
          </a:prstGeom>
        </p:spPr>
        <p:txBody>
          <a:bodyPr vert="horz" wrap="square" lIns="0" tIns="15875" rIns="0" bIns="0" rtlCol="0">
            <a:spAutoFit/>
          </a:bodyPr>
          <a:lstStyle/>
          <a:p>
            <a:pPr marL="135890" algn="ctr">
              <a:lnSpc>
                <a:spcPct val="100000"/>
              </a:lnSpc>
              <a:spcBef>
                <a:spcPts val="125"/>
              </a:spcBef>
            </a:pPr>
            <a:r>
              <a:rPr lang="en-IN" dirty="0"/>
              <a:t>Literature</a:t>
            </a:r>
            <a:r>
              <a:rPr lang="en-IN" spc="60" dirty="0"/>
              <a:t> </a:t>
            </a:r>
            <a:r>
              <a:rPr lang="en-IN" spc="-10" dirty="0"/>
              <a:t>Survey</a:t>
            </a:r>
            <a:endParaRPr spc="-10" dirty="0">
              <a:solidFill>
                <a:srgbClr val="FF0000"/>
              </a:solidFil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775"/>
              </a:lnSpc>
            </a:pPr>
            <a:fld id="{81D60167-4931-47E6-BA6A-407CBD079E47}" type="slidenum">
              <a:rPr spc="-25" dirty="0"/>
              <a:t>8</a:t>
            </a:fld>
            <a:endParaRPr spc="-25" dirty="0"/>
          </a:p>
        </p:txBody>
      </p:sp>
      <p:graphicFrame>
        <p:nvGraphicFramePr>
          <p:cNvPr id="3" name="object 3"/>
          <p:cNvGraphicFramePr>
            <a:graphicFrameLocks noGrp="1"/>
          </p:cNvGraphicFramePr>
          <p:nvPr>
            <p:extLst>
              <p:ext uri="{D42A27DB-BD31-4B8C-83A1-F6EECF244321}">
                <p14:modId xmlns:p14="http://schemas.microsoft.com/office/powerpoint/2010/main" val="2745321003"/>
              </p:ext>
            </p:extLst>
          </p:nvPr>
        </p:nvGraphicFramePr>
        <p:xfrm>
          <a:off x="774700" y="967178"/>
          <a:ext cx="9089865" cy="5628493"/>
        </p:xfrm>
        <a:graphic>
          <a:graphicData uri="http://schemas.openxmlformats.org/drawingml/2006/table">
            <a:tbl>
              <a:tblPr firstRow="1" bandRow="1">
                <a:tableStyleId>{2D5ABB26-0587-4C30-8999-92F81FD0307C}</a:tableStyleId>
              </a:tblPr>
              <a:tblGrid>
                <a:gridCol w="693172">
                  <a:extLst>
                    <a:ext uri="{9D8B030D-6E8A-4147-A177-3AD203B41FA5}">
                      <a16:colId xmlns:a16="http://schemas.microsoft.com/office/drawing/2014/main" val="20000"/>
                    </a:ext>
                  </a:extLst>
                </a:gridCol>
                <a:gridCol w="678939">
                  <a:extLst>
                    <a:ext uri="{9D8B030D-6E8A-4147-A177-3AD203B41FA5}">
                      <a16:colId xmlns:a16="http://schemas.microsoft.com/office/drawing/2014/main" val="20001"/>
                    </a:ext>
                  </a:extLst>
                </a:gridCol>
                <a:gridCol w="1417433">
                  <a:extLst>
                    <a:ext uri="{9D8B030D-6E8A-4147-A177-3AD203B41FA5}">
                      <a16:colId xmlns:a16="http://schemas.microsoft.com/office/drawing/2014/main" val="20002"/>
                    </a:ext>
                  </a:extLst>
                </a:gridCol>
                <a:gridCol w="2626829">
                  <a:extLst>
                    <a:ext uri="{9D8B030D-6E8A-4147-A177-3AD203B41FA5}">
                      <a16:colId xmlns:a16="http://schemas.microsoft.com/office/drawing/2014/main" val="20003"/>
                    </a:ext>
                  </a:extLst>
                </a:gridCol>
                <a:gridCol w="3673492">
                  <a:extLst>
                    <a:ext uri="{9D8B030D-6E8A-4147-A177-3AD203B41FA5}">
                      <a16:colId xmlns:a16="http://schemas.microsoft.com/office/drawing/2014/main" val="20004"/>
                    </a:ext>
                  </a:extLst>
                </a:gridCol>
              </a:tblGrid>
              <a:tr h="491313">
                <a:tc>
                  <a:txBody>
                    <a:bodyPr/>
                    <a:lstStyle/>
                    <a:p>
                      <a:pPr marL="116839" algn="ctr">
                        <a:lnSpc>
                          <a:spcPct val="100000"/>
                        </a:lnSpc>
                        <a:spcBef>
                          <a:spcPts val="1275"/>
                        </a:spcBef>
                      </a:pPr>
                      <a:r>
                        <a:rPr sz="1650" b="1">
                          <a:latin typeface="Times New Roman"/>
                          <a:cs typeface="Times New Roman"/>
                        </a:rPr>
                        <a:t>S.</a:t>
                      </a:r>
                      <a:r>
                        <a:rPr sz="1650" b="1" spc="5">
                          <a:latin typeface="Times New Roman"/>
                          <a:cs typeface="Times New Roman"/>
                        </a:rPr>
                        <a:t> </a:t>
                      </a:r>
                      <a:r>
                        <a:rPr sz="1650" b="1" spc="-25">
                          <a:latin typeface="Times New Roman"/>
                          <a:cs typeface="Times New Roman"/>
                        </a:rPr>
                        <a:t>No</a:t>
                      </a:r>
                      <a:endParaRPr sz="1650" b="1" dirty="0">
                        <a:latin typeface="Times New Roman"/>
                        <a:cs typeface="Times New Roman"/>
                      </a:endParaRPr>
                    </a:p>
                  </a:txBody>
                  <a:tcPr marL="0" marR="0" marT="161925"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123189" algn="ctr">
                        <a:lnSpc>
                          <a:spcPct val="100000"/>
                        </a:lnSpc>
                      </a:pPr>
                      <a:r>
                        <a:rPr lang="en-US" sz="1650" b="1">
                          <a:solidFill>
                            <a:schemeClr val="tx1"/>
                          </a:solidFill>
                          <a:latin typeface="Times New Roman"/>
                          <a:ea typeface="+mn-ea"/>
                          <a:cs typeface="Times New Roman"/>
                        </a:rPr>
                        <a:t>Year</a:t>
                      </a:r>
                      <a:endParaRPr sz="1650" b="1" dirty="0">
                        <a:solidFill>
                          <a:schemeClr val="tx1"/>
                        </a:solidFill>
                        <a:latin typeface="Times New Roman"/>
                        <a:ea typeface="+mn-ea"/>
                        <a:cs typeface="Times New Roman"/>
                      </a:endParaRPr>
                    </a:p>
                  </a:txBody>
                  <a:tcPr marL="0" marR="0" marT="47625"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322580" algn="ctr">
                        <a:lnSpc>
                          <a:spcPct val="100000"/>
                        </a:lnSpc>
                        <a:spcBef>
                          <a:spcPts val="1275"/>
                        </a:spcBef>
                      </a:pPr>
                      <a:r>
                        <a:rPr sz="1650" b="1" spc="-10">
                          <a:latin typeface="Times New Roman"/>
                          <a:cs typeface="Times New Roman"/>
                        </a:rPr>
                        <a:t>Authors</a:t>
                      </a:r>
                      <a:endParaRPr sz="1650" b="1" dirty="0">
                        <a:latin typeface="Times New Roman"/>
                        <a:cs typeface="Times New Roman"/>
                      </a:endParaRPr>
                    </a:p>
                  </a:txBody>
                  <a:tcPr marL="0" marR="0" marT="161925"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1275"/>
                        </a:spcBef>
                      </a:pPr>
                      <a:r>
                        <a:rPr sz="1650" b="1" spc="-10">
                          <a:latin typeface="Times New Roman"/>
                          <a:cs typeface="Times New Roman"/>
                        </a:rPr>
                        <a:t>Title</a:t>
                      </a:r>
                      <a:endParaRPr sz="1650" b="1" dirty="0">
                        <a:latin typeface="Times New Roman"/>
                        <a:cs typeface="Times New Roman"/>
                      </a:endParaRPr>
                    </a:p>
                  </a:txBody>
                  <a:tcPr marL="0" marR="0" marT="161925"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1275"/>
                        </a:spcBef>
                      </a:pPr>
                      <a:r>
                        <a:rPr sz="1650" b="1" spc="-10">
                          <a:latin typeface="Times New Roman"/>
                          <a:cs typeface="Times New Roman"/>
                        </a:rPr>
                        <a:t>Outcomes</a:t>
                      </a:r>
                      <a:endParaRPr sz="1650" b="1" dirty="0">
                        <a:latin typeface="Times New Roman"/>
                        <a:cs typeface="Times New Roman"/>
                      </a:endParaRPr>
                    </a:p>
                  </a:txBody>
                  <a:tcPr marL="0" marR="0" marT="161925"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094165">
                <a:tc>
                  <a:txBody>
                    <a:bodyPr/>
                    <a:lstStyle/>
                    <a:p>
                      <a:pPr algn="ctr">
                        <a:lnSpc>
                          <a:spcPct val="100000"/>
                        </a:lnSpc>
                      </a:pPr>
                      <a:br>
                        <a:rPr lang="en-US" sz="1650" spc="-50" dirty="0">
                          <a:latin typeface="Times New Roman"/>
                          <a:cs typeface="Times New Roman"/>
                        </a:rPr>
                      </a:br>
                      <a:r>
                        <a:rPr sz="1650" spc="-50" dirty="0">
                          <a:latin typeface="Times New Roman"/>
                          <a:cs typeface="Times New Roman"/>
                        </a:rPr>
                        <a:t>1</a:t>
                      </a:r>
                      <a:endParaRPr sz="165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pPr>
                      <a:r>
                        <a:rPr lang="en-IN" sz="1650" spc="-25" dirty="0">
                          <a:solidFill>
                            <a:schemeClr val="tx1"/>
                          </a:solidFill>
                          <a:latin typeface="Times New Roman"/>
                          <a:cs typeface="Times New Roman"/>
                        </a:rPr>
                        <a:t>202</a:t>
                      </a:r>
                      <a:r>
                        <a:rPr lang="en-US" sz="1650" spc="-25" dirty="0">
                          <a:solidFill>
                            <a:schemeClr val="tx1"/>
                          </a:solidFill>
                          <a:latin typeface="Times New Roman"/>
                          <a:cs typeface="Times New Roman"/>
                        </a:rPr>
                        <a:t>5</a:t>
                      </a:r>
                      <a:endParaRPr sz="1650" dirty="0">
                        <a:solidFill>
                          <a:schemeClr val="tx1"/>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cap="flat" cmpd="sng" algn="ctr">
                      <a:solidFill>
                        <a:srgbClr val="000000"/>
                      </a:solidFill>
                      <a:prstDash val="solid"/>
                      <a:round/>
                      <a:headEnd type="none" w="med" len="med"/>
                      <a:tailEnd type="none" w="med" len="med"/>
                    </a:lnB>
                  </a:tcPr>
                </a:tc>
                <a:tc>
                  <a:txBody>
                    <a:bodyPr/>
                    <a:lstStyle/>
                    <a:p>
                      <a:pPr marL="100330" marR="287655" algn="ctr">
                        <a:lnSpc>
                          <a:spcPct val="100600"/>
                        </a:lnSpc>
                      </a:pPr>
                      <a:r>
                        <a:rPr lang="en-IN" sz="1600" dirty="0">
                          <a:latin typeface="Times New Roman" panose="02020603050405020304" pitchFamily="18" charset="0"/>
                          <a:cs typeface="Times New Roman" panose="02020603050405020304" pitchFamily="18" charset="0"/>
                        </a:rPr>
                        <a:t>Al-</a:t>
                      </a:r>
                      <a:r>
                        <a:rPr lang="en-IN" sz="1600" dirty="0" err="1">
                          <a:latin typeface="Times New Roman" panose="02020603050405020304" pitchFamily="18" charset="0"/>
                          <a:cs typeface="Times New Roman" panose="02020603050405020304" pitchFamily="18" charset="0"/>
                        </a:rPr>
                        <a:t>Rawashdeh</a:t>
                      </a:r>
                      <a:r>
                        <a:rPr lang="en-IN" sz="1600" dirty="0">
                          <a:latin typeface="Times New Roman" panose="02020603050405020304" pitchFamily="18" charset="0"/>
                          <a:cs typeface="Times New Roman" panose="02020603050405020304" pitchFamily="18" charset="0"/>
                        </a:rPr>
                        <a:t>, Rahman &amp; Niazi</a:t>
                      </a:r>
                      <a:endParaRPr lang="en-IN" sz="1650" dirty="0">
                        <a:solidFill>
                          <a:schemeClr val="tx1"/>
                        </a:solidFill>
                        <a:latin typeface="Times New Roman" panose="02020603050405020304" pitchFamily="18" charset="0"/>
                        <a:cs typeface="Times New Roman" panose="02020603050405020304" pitchFamily="18" charset="0"/>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cap="flat" cmpd="sng" algn="ctr">
                      <a:solidFill>
                        <a:srgbClr val="000000"/>
                      </a:solidFill>
                      <a:prstDash val="solid"/>
                      <a:round/>
                      <a:headEnd type="none" w="med" len="med"/>
                      <a:tailEnd type="none" w="med" len="med"/>
                    </a:lnB>
                  </a:tcPr>
                </a:tc>
                <a:tc>
                  <a:txBody>
                    <a:bodyPr/>
                    <a:lstStyle/>
                    <a:p>
                      <a:pPr marL="100330">
                        <a:lnSpc>
                          <a:spcPct val="100000"/>
                        </a:lnSpc>
                        <a:spcBef>
                          <a:spcPts val="280"/>
                        </a:spcBef>
                      </a:pPr>
                      <a:r>
                        <a:rPr lang="en-US" sz="1600" dirty="0">
                          <a:latin typeface="Times New Roman" panose="02020603050405020304" pitchFamily="18" charset="0"/>
                          <a:cs typeface="Times New Roman" panose="02020603050405020304" pitchFamily="18" charset="0"/>
                        </a:rPr>
                        <a:t>Robust Image Steganography Approach Based on Edge Detection Combined with CNN Algorithm</a:t>
                      </a:r>
                      <a:endParaRPr sz="1650" dirty="0">
                        <a:latin typeface="Times New Roman" panose="02020603050405020304" pitchFamily="18" charset="0"/>
                        <a:cs typeface="Times New Roman" panose="02020603050405020304" pitchFamily="18" charset="0"/>
                      </a:endParaRPr>
                    </a:p>
                  </a:txBody>
                  <a:tcPr marL="0" marR="0" marT="35560" marB="0">
                    <a:lnL w="19050">
                      <a:solidFill>
                        <a:srgbClr val="000000"/>
                      </a:solidFill>
                      <a:prstDash val="solid"/>
                    </a:lnL>
                    <a:lnR w="19050">
                      <a:solidFill>
                        <a:srgbClr val="000000"/>
                      </a:solidFill>
                      <a:prstDash val="solid"/>
                    </a:lnR>
                    <a:lnT w="19050">
                      <a:solidFill>
                        <a:srgbClr val="000000"/>
                      </a:solidFill>
                      <a:prstDash val="solid"/>
                    </a:lnT>
                    <a:lnB w="19050" cap="flat" cmpd="sng" algn="ctr">
                      <a:solidFill>
                        <a:srgbClr val="000000"/>
                      </a:solidFill>
                      <a:prstDash val="solid"/>
                      <a:round/>
                      <a:headEnd type="none" w="med" len="med"/>
                      <a:tailEnd type="none" w="med" len="med"/>
                    </a:lnB>
                  </a:tcPr>
                </a:tc>
                <a:tc>
                  <a:txBody>
                    <a:bodyPr/>
                    <a:lstStyle/>
                    <a:p>
                      <a:pPr marL="99060" marR="92710" algn="l">
                        <a:lnSpc>
                          <a:spcPct val="100200"/>
                        </a:lnSpc>
                        <a:spcBef>
                          <a:spcPts val="275"/>
                        </a:spcBef>
                      </a:pPr>
                      <a:r>
                        <a:rPr lang="en-US" sz="1600" dirty="0">
                          <a:latin typeface="Times New Roman" panose="02020603050405020304" pitchFamily="18" charset="0"/>
                          <a:cs typeface="Times New Roman" panose="02020603050405020304" pitchFamily="18" charset="0"/>
                        </a:rPr>
                        <a:t>Improved imperceptibility and robustness using edge regions + CNN based embedding and extraction.</a:t>
                      </a:r>
                      <a:endParaRPr sz="1650" dirty="0">
                        <a:latin typeface="Times New Roman" panose="02020603050405020304" pitchFamily="18" charset="0"/>
                        <a:cs typeface="Times New Roman" panose="02020603050405020304" pitchFamily="18" charset="0"/>
                      </a:endParaRPr>
                    </a:p>
                  </a:txBody>
                  <a:tcPr marL="0" marR="0" marT="34925"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1153075">
                <a:tc>
                  <a:txBody>
                    <a:bodyPr/>
                    <a:lstStyle/>
                    <a:p>
                      <a:pPr algn="ctr">
                        <a:lnSpc>
                          <a:spcPct val="100000"/>
                        </a:lnSpc>
                      </a:pPr>
                      <a:br>
                        <a:rPr lang="en-US" sz="1650" dirty="0">
                          <a:latin typeface="Times New Roman"/>
                          <a:cs typeface="Times New Roman"/>
                        </a:rPr>
                      </a:br>
                      <a:r>
                        <a:rPr lang="en-US" sz="1650" dirty="0">
                          <a:latin typeface="Times New Roman"/>
                          <a:cs typeface="Times New Roman"/>
                        </a:rPr>
                        <a:t>2</a:t>
                      </a:r>
                      <a:endParaRPr sz="1650" dirty="0">
                        <a:latin typeface="Times New Roman"/>
                        <a:cs typeface="Times New Roman"/>
                      </a:endParaRPr>
                    </a:p>
                  </a:txBody>
                  <a:tcPr marL="0" marR="0" marT="0" marB="0">
                    <a:lnL w="19050">
                      <a:solidFill>
                        <a:srgbClr val="000000"/>
                      </a:solidFill>
                      <a:prstDash val="solid"/>
                    </a:lnL>
                    <a:lnR w="19050" cap="flat" cmpd="sng" algn="ctr">
                      <a:solidFill>
                        <a:srgbClr val="000000"/>
                      </a:solidFill>
                      <a:prstDash val="solid"/>
                      <a:round/>
                      <a:headEnd type="none" w="med" len="med"/>
                      <a:tailEnd type="none" w="med" len="med"/>
                    </a:lnR>
                    <a:lnT w="19050">
                      <a:solidFill>
                        <a:srgbClr val="000000"/>
                      </a:solidFill>
                      <a:prstDash val="solid"/>
                    </a:lnT>
                    <a:lnB w="19050">
                      <a:solidFill>
                        <a:srgbClr val="000000"/>
                      </a:solidFill>
                      <a:prstDash val="solid"/>
                    </a:lnB>
                  </a:tcPr>
                </a:tc>
                <a:tc>
                  <a:txBody>
                    <a:bodyPr/>
                    <a:lstStyle/>
                    <a:p>
                      <a:pPr algn="ctr">
                        <a:lnSpc>
                          <a:spcPct val="100000"/>
                        </a:lnSpc>
                      </a:pPr>
                      <a:r>
                        <a:rPr lang="en-US" sz="1650">
                          <a:latin typeface="Times New Roman"/>
                          <a:cs typeface="Times New Roman"/>
                        </a:rPr>
                        <a:t>2021</a:t>
                      </a:r>
                      <a:endParaRPr sz="1650" dirty="0">
                        <a:latin typeface="Times New Roman"/>
                        <a:cs typeface="Times New Roman"/>
                      </a:endParaRPr>
                    </a:p>
                  </a:txBody>
                  <a:tcPr marL="0" marR="0" marT="17399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100330" marR="282575" algn="ctr">
                        <a:lnSpc>
                          <a:spcPct val="100600"/>
                        </a:lnSpc>
                      </a:pPr>
                      <a:r>
                        <a:rPr lang="en-IN" sz="1600" dirty="0">
                          <a:latin typeface="Times New Roman" panose="02020603050405020304" pitchFamily="18" charset="0"/>
                          <a:cs typeface="Times New Roman" panose="02020603050405020304" pitchFamily="18" charset="0"/>
                        </a:rPr>
                        <a:t>Ray, Banerjee &amp; Bandyopadhyay</a:t>
                      </a:r>
                      <a:endParaRPr sz="1650" dirty="0">
                        <a:latin typeface="Times New Roman" panose="02020603050405020304" pitchFamily="18" charset="0"/>
                        <a:cs typeface="Times New Roman" panose="02020603050405020304" pitchFamily="18" charset="0"/>
                      </a:endParaRPr>
                    </a:p>
                  </a:txBody>
                  <a:tcPr marL="0" marR="0" marT="1727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100330" marR="129539">
                        <a:lnSpc>
                          <a:spcPct val="100299"/>
                        </a:lnSpc>
                        <a:spcBef>
                          <a:spcPts val="285"/>
                        </a:spcBef>
                      </a:pPr>
                      <a:r>
                        <a:rPr lang="en-US" sz="1600" dirty="0">
                          <a:latin typeface="Times New Roman" panose="02020603050405020304" pitchFamily="18" charset="0"/>
                          <a:cs typeface="Times New Roman" panose="02020603050405020304" pitchFamily="18" charset="0"/>
                        </a:rPr>
                        <a:t>Image Steganography Using Deep Learning Based Edge Detection</a:t>
                      </a:r>
                      <a:endParaRPr sz="1650" dirty="0">
                        <a:latin typeface="Times New Roman" panose="02020603050405020304" pitchFamily="18" charset="0"/>
                        <a:cs typeface="Times New Roman" panose="02020603050405020304" pitchFamily="18" charset="0"/>
                      </a:endParaRPr>
                    </a:p>
                  </a:txBody>
                  <a:tcPr marL="0" marR="0" marT="36195"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99060" marR="94615" algn="l">
                        <a:lnSpc>
                          <a:spcPct val="100000"/>
                        </a:lnSpc>
                        <a:spcBef>
                          <a:spcPts val="285"/>
                        </a:spcBef>
                      </a:pPr>
                      <a:r>
                        <a:rPr lang="en-US" sz="1600" dirty="0">
                          <a:latin typeface="Times New Roman" panose="02020603050405020304" pitchFamily="18" charset="0"/>
                          <a:cs typeface="Times New Roman" panose="02020603050405020304" pitchFamily="18" charset="0"/>
                        </a:rPr>
                        <a:t>Edge-aware deep learning improves secure embedding and reduces detectability</a:t>
                      </a:r>
                      <a:endParaRPr sz="1650" dirty="0">
                        <a:latin typeface="Times New Roman" panose="02020603050405020304" pitchFamily="18" charset="0"/>
                        <a:cs typeface="Times New Roman" panose="02020603050405020304" pitchFamily="18" charset="0"/>
                      </a:endParaRPr>
                    </a:p>
                  </a:txBody>
                  <a:tcPr marL="0" marR="0" marT="36195" marB="0" anchor="ctr">
                    <a:lnL w="19050" cap="flat" cmpd="sng" algn="ctr">
                      <a:solidFill>
                        <a:srgbClr val="000000"/>
                      </a:solidFill>
                      <a:prstDash val="solid"/>
                      <a:round/>
                      <a:headEnd type="none" w="med" len="med"/>
                      <a:tailEnd type="none" w="med" len="me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2"/>
                  </a:ext>
                </a:extLst>
              </a:tr>
              <a:tr h="1035188">
                <a:tc>
                  <a:txBody>
                    <a:bodyPr/>
                    <a:lstStyle/>
                    <a:p>
                      <a:pPr algn="ctr">
                        <a:lnSpc>
                          <a:spcPct val="100000"/>
                        </a:lnSpc>
                      </a:pPr>
                      <a:br>
                        <a:rPr lang="en-US" sz="1650" dirty="0">
                          <a:latin typeface="Times New Roman"/>
                          <a:cs typeface="Times New Roman"/>
                        </a:rPr>
                      </a:br>
                      <a:r>
                        <a:rPr lang="en-US" sz="1650" dirty="0">
                          <a:latin typeface="Times New Roman"/>
                          <a:cs typeface="Times New Roman"/>
                        </a:rPr>
                        <a:t>3</a:t>
                      </a:r>
                      <a:endParaRPr sz="165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cap="flat" cmpd="sng" algn="ctr">
                      <a:solidFill>
                        <a:srgbClr val="000000"/>
                      </a:solidFill>
                      <a:prstDash val="solid"/>
                      <a:round/>
                      <a:headEnd type="none" w="med" len="med"/>
                      <a:tailEnd type="none" w="med" len="med"/>
                    </a:lnB>
                  </a:tcPr>
                </a:tc>
                <a:tc>
                  <a:txBody>
                    <a:bodyPr/>
                    <a:lstStyle/>
                    <a:p>
                      <a:pPr algn="l">
                        <a:lnSpc>
                          <a:spcPct val="100000"/>
                        </a:lnSpc>
                      </a:pPr>
                      <a:r>
                        <a:rPr lang="en-US" sz="1600" dirty="0">
                          <a:latin typeface="Times New Roman"/>
                          <a:cs typeface="Times New Roman"/>
                        </a:rPr>
                        <a:t> </a:t>
                      </a:r>
                      <a:r>
                        <a:rPr lang="en-IN" sz="1600" dirty="0">
                          <a:latin typeface="Times New Roman"/>
                          <a:cs typeface="Times New Roman"/>
                        </a:rPr>
                        <a:t> </a:t>
                      </a:r>
                    </a:p>
                    <a:p>
                      <a:pPr algn="l">
                        <a:lnSpc>
                          <a:spcPct val="100000"/>
                        </a:lnSpc>
                      </a:pPr>
                      <a:r>
                        <a:rPr lang="en-IN" sz="1600" dirty="0">
                          <a:latin typeface="Times New Roman"/>
                          <a:cs typeface="Times New Roman"/>
                        </a:rPr>
                        <a:t>  2020</a:t>
                      </a:r>
                      <a:endParaRPr sz="165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just">
                        <a:lnSpc>
                          <a:spcPct val="100000"/>
                        </a:lnSpc>
                      </a:pPr>
                      <a:r>
                        <a:rPr lang="en-IN" sz="1600" dirty="0"/>
                        <a:t> </a:t>
                      </a:r>
                    </a:p>
                    <a:p>
                      <a:pPr algn="ctr">
                        <a:lnSpc>
                          <a:spcPct val="100000"/>
                        </a:lnSpc>
                      </a:pPr>
                      <a:r>
                        <a:rPr lang="en-IN" sz="1600" dirty="0">
                          <a:latin typeface="Times New Roman" panose="02020603050405020304" pitchFamily="18" charset="0"/>
                          <a:cs typeface="Times New Roman" panose="02020603050405020304" pitchFamily="18" charset="0"/>
                        </a:rPr>
                        <a:t> Liu, Tang &amp;    Luo</a:t>
                      </a:r>
                      <a:endParaRPr lang="en-IN" sz="1650" dirty="0">
                        <a:latin typeface="Times New Roman" panose="02020603050405020304" pitchFamily="18" charset="0"/>
                        <a:cs typeface="Times New Roman" panose="02020603050405020304" pitchFamily="18" charset="0"/>
                      </a:endParaRPr>
                    </a:p>
                  </a:txBody>
                  <a:tcPr marL="0" marR="0" marT="0" marB="0">
                    <a:lnL w="19050">
                      <a:solidFill>
                        <a:srgbClr val="000000"/>
                      </a:solidFill>
                      <a:prstDash val="solid"/>
                    </a:lnL>
                    <a:lnR w="19050">
                      <a:solidFill>
                        <a:srgbClr val="000000"/>
                      </a:solidFill>
                      <a:prstDash val="soli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100330" marR="233679">
                        <a:lnSpc>
                          <a:spcPct val="100200"/>
                        </a:lnSpc>
                        <a:spcBef>
                          <a:spcPts val="290"/>
                        </a:spcBef>
                      </a:pPr>
                      <a:r>
                        <a:rPr lang="en-US" sz="1600" dirty="0">
                          <a:latin typeface="Times New Roman" panose="02020603050405020304" pitchFamily="18" charset="0"/>
                          <a:cs typeface="Times New Roman" panose="02020603050405020304" pitchFamily="18" charset="0"/>
                        </a:rPr>
                        <a:t>Secure and Robust Image Steganography Based on Convolutional Neural Networks</a:t>
                      </a:r>
                      <a:endParaRPr sz="1650" dirty="0">
                        <a:latin typeface="Times New Roman" panose="02020603050405020304" pitchFamily="18" charset="0"/>
                        <a:cs typeface="Times New Roman" panose="02020603050405020304" pitchFamily="18" charset="0"/>
                      </a:endParaRPr>
                    </a:p>
                  </a:txBody>
                  <a:tcPr marL="0" marR="0" marT="36830" marB="0">
                    <a:lnL w="19050">
                      <a:solidFill>
                        <a:srgbClr val="000000"/>
                      </a:solidFill>
                      <a:prstDash val="solid"/>
                    </a:lnL>
                    <a:lnR w="19050">
                      <a:solidFill>
                        <a:srgbClr val="000000"/>
                      </a:solidFill>
                      <a:prstDash val="soli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99060" marR="93980" algn="l">
                        <a:lnSpc>
                          <a:spcPct val="100200"/>
                        </a:lnSpc>
                        <a:spcBef>
                          <a:spcPts val="1285"/>
                        </a:spcBef>
                      </a:pPr>
                      <a:r>
                        <a:rPr lang="en-US" sz="1600" dirty="0">
                          <a:latin typeface="Times New Roman" panose="02020603050405020304" pitchFamily="18" charset="0"/>
                          <a:cs typeface="Times New Roman" panose="02020603050405020304" pitchFamily="18" charset="0"/>
                        </a:rPr>
                        <a:t>CNN improves embedding optimization and accurate recovery of hidden data.</a:t>
                      </a:r>
                      <a:endParaRPr sz="1650" dirty="0">
                        <a:latin typeface="Times New Roman" panose="02020603050405020304" pitchFamily="18" charset="0"/>
                        <a:cs typeface="Times New Roman" panose="02020603050405020304" pitchFamily="18" charset="0"/>
                      </a:endParaRPr>
                    </a:p>
                  </a:txBody>
                  <a:tcPr marL="0" marR="0" marT="163195" marB="0">
                    <a:lnL w="19050">
                      <a:solidFill>
                        <a:srgbClr val="000000"/>
                      </a:solidFill>
                      <a:prstDash val="solid"/>
                    </a:lnL>
                    <a:lnR w="19050">
                      <a:solidFill>
                        <a:srgbClr val="000000"/>
                      </a:solidFill>
                      <a:prstDash val="solid"/>
                    </a:lnR>
                    <a:lnT w="19050">
                      <a:solidFill>
                        <a:srgbClr val="000000"/>
                      </a:solidFill>
                      <a:prstDash val="soli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60037">
                <a:tc>
                  <a:txBody>
                    <a:bodyPr/>
                    <a:lstStyle/>
                    <a:p>
                      <a:pPr algn="ctr">
                        <a:lnSpc>
                          <a:spcPct val="100000"/>
                        </a:lnSpc>
                      </a:pPr>
                      <a:br>
                        <a:rPr lang="en-US" sz="1650" dirty="0">
                          <a:latin typeface="Times New Roman"/>
                          <a:cs typeface="Times New Roman"/>
                        </a:rPr>
                      </a:br>
                      <a:r>
                        <a:rPr lang="en-US" sz="1650" dirty="0">
                          <a:latin typeface="Times New Roman"/>
                          <a:cs typeface="Times New Roman"/>
                        </a:rPr>
                        <a:t>4</a:t>
                      </a:r>
                      <a:endParaRPr sz="1650" dirty="0">
                        <a:latin typeface="Times New Roman"/>
                        <a:cs typeface="Times New Roman"/>
                      </a:endParaRPr>
                    </a:p>
                  </a:txBody>
                  <a:tcPr marL="0" marR="0" marT="0" marB="0">
                    <a:lnL w="19050">
                      <a:solidFill>
                        <a:srgbClr val="000000"/>
                      </a:solidFill>
                      <a:prstDash val="solid"/>
                    </a:lnL>
                    <a:lnR w="19050" cap="flat" cmpd="sng" algn="ctr">
                      <a:solidFill>
                        <a:srgbClr val="000000"/>
                      </a:solidFill>
                      <a:prstDash val="solid"/>
                      <a:round/>
                      <a:headEnd type="none" w="med" len="med"/>
                      <a:tailEnd type="none" w="med" len="med"/>
                    </a:lnR>
                    <a:lnT w="19050">
                      <a:solidFill>
                        <a:srgbClr val="000000"/>
                      </a:solidFill>
                      <a:prstDash val="solid"/>
                    </a:lnT>
                    <a:lnB w="19050" cap="flat" cmpd="sng" algn="ctr">
                      <a:solidFill>
                        <a:srgbClr val="000000"/>
                      </a:solidFill>
                      <a:prstDash val="solid"/>
                      <a:round/>
                      <a:headEnd type="none" w="med" len="med"/>
                      <a:tailEnd type="none" w="med" len="med"/>
                    </a:lnB>
                  </a:tcPr>
                </a:tc>
                <a:tc>
                  <a:txBody>
                    <a:bodyPr/>
                    <a:lstStyle/>
                    <a:p>
                      <a:pPr algn="l">
                        <a:lnSpc>
                          <a:spcPct val="100000"/>
                        </a:lnSpc>
                      </a:pPr>
                      <a:r>
                        <a:rPr lang="en-US" sz="1650" dirty="0">
                          <a:latin typeface="Times New Roman"/>
                          <a:cs typeface="Times New Roman"/>
                        </a:rPr>
                        <a:t>  </a:t>
                      </a:r>
                    </a:p>
                    <a:p>
                      <a:pPr algn="l">
                        <a:lnSpc>
                          <a:spcPct val="100000"/>
                        </a:lnSpc>
                      </a:pPr>
                      <a:r>
                        <a:rPr lang="en-US" sz="1650" dirty="0">
                          <a:latin typeface="Times New Roman"/>
                          <a:cs typeface="Times New Roman"/>
                        </a:rPr>
                        <a:t>  </a:t>
                      </a:r>
                      <a:r>
                        <a:rPr lang="en-IN" sz="1600" dirty="0"/>
                        <a:t>1986</a:t>
                      </a:r>
                      <a:endParaRPr sz="1650" dirty="0">
                        <a:latin typeface="Times New Roman"/>
                        <a:cs typeface="Times New Roman"/>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00000"/>
                        </a:lnSpc>
                      </a:pPr>
                      <a:r>
                        <a:rPr lang="en-US" sz="1650" dirty="0">
                          <a:latin typeface="Times New Roman"/>
                          <a:cs typeface="Times New Roman"/>
                        </a:rPr>
                        <a:t>  </a:t>
                      </a:r>
                      <a:r>
                        <a:rPr lang="en-IN" sz="1600" dirty="0">
                          <a:latin typeface="Times New Roman" panose="02020603050405020304" pitchFamily="18" charset="0"/>
                          <a:cs typeface="Times New Roman" panose="02020603050405020304" pitchFamily="18" charset="0"/>
                        </a:rPr>
                        <a:t>Canny</a:t>
                      </a:r>
                      <a:endParaRPr sz="1650" dirty="0">
                        <a:latin typeface="Times New Roman" panose="02020603050405020304" pitchFamily="18" charset="0"/>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100330" marR="233679">
                        <a:lnSpc>
                          <a:spcPct val="100200"/>
                        </a:lnSpc>
                        <a:spcBef>
                          <a:spcPts val="290"/>
                        </a:spcBef>
                      </a:pPr>
                      <a:r>
                        <a:rPr lang="en-US" sz="1600" dirty="0">
                          <a:latin typeface="Times New Roman" panose="02020603050405020304" pitchFamily="18" charset="0"/>
                          <a:cs typeface="Times New Roman" panose="02020603050405020304" pitchFamily="18" charset="0"/>
                        </a:rPr>
                        <a:t>A Computational Approach to Edge Detection</a:t>
                      </a:r>
                      <a:endParaRPr sz="1650" dirty="0">
                        <a:latin typeface="Times New Roman" panose="02020603050405020304" pitchFamily="18" charset="0"/>
                        <a:cs typeface="Times New Roman" panose="02020603050405020304" pitchFamily="18" charset="0"/>
                      </a:endParaRPr>
                    </a:p>
                  </a:txBody>
                  <a:tcPr marL="0" marR="0" marT="3683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99060" marR="93980" algn="l">
                        <a:lnSpc>
                          <a:spcPct val="100200"/>
                        </a:lnSpc>
                        <a:spcBef>
                          <a:spcPts val="1285"/>
                        </a:spcBef>
                      </a:pPr>
                      <a:r>
                        <a:rPr lang="en-US" sz="1600" dirty="0">
                          <a:latin typeface="Times New Roman" panose="02020603050405020304" pitchFamily="18" charset="0"/>
                          <a:cs typeface="Times New Roman" panose="02020603050405020304" pitchFamily="18" charset="0"/>
                        </a:rPr>
                        <a:t>Introduced Canny edge detection, useful for identifying high-frequency regions for hiding data.</a:t>
                      </a:r>
                      <a:endParaRPr sz="1650" dirty="0">
                        <a:latin typeface="Times New Roman" panose="02020603050405020304" pitchFamily="18" charset="0"/>
                        <a:cs typeface="Times New Roman" panose="02020603050405020304" pitchFamily="18" charset="0"/>
                      </a:endParaRPr>
                    </a:p>
                  </a:txBody>
                  <a:tcPr marL="0" marR="0" marT="163195" marB="0" anchor="ctr">
                    <a:lnL w="19050" cap="flat" cmpd="sng" algn="ctr">
                      <a:solidFill>
                        <a:srgbClr val="000000"/>
                      </a:solidFill>
                      <a:prstDash val="solid"/>
                      <a:round/>
                      <a:headEnd type="none" w="med" len="med"/>
                      <a:tailEnd type="none" w="med" len="med"/>
                    </a:lnL>
                    <a:lnR w="19050">
                      <a:solidFill>
                        <a:srgbClr val="000000"/>
                      </a:solidFill>
                      <a:prstDash val="solid"/>
                    </a:lnR>
                    <a:lnT w="19050">
                      <a:solidFill>
                        <a:srgbClr val="000000"/>
                      </a:solidFill>
                      <a:prstDash val="soli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270914"/>
                  </a:ext>
                </a:extLst>
              </a:tr>
              <a:tr h="806588">
                <a:tc>
                  <a:txBody>
                    <a:bodyPr/>
                    <a:lstStyle/>
                    <a:p>
                      <a:pPr algn="ctr">
                        <a:lnSpc>
                          <a:spcPct val="100000"/>
                        </a:lnSpc>
                      </a:pPr>
                      <a:br>
                        <a:rPr lang="en-US" sz="1650" dirty="0">
                          <a:latin typeface="Times New Roman"/>
                          <a:cs typeface="Times New Roman"/>
                        </a:rPr>
                      </a:br>
                      <a:r>
                        <a:rPr lang="en-US" sz="1650" dirty="0">
                          <a:latin typeface="Times New Roman"/>
                          <a:cs typeface="Times New Roman"/>
                        </a:rPr>
                        <a:t>5</a:t>
                      </a:r>
                      <a:endParaRPr sz="1650" dirty="0">
                        <a:latin typeface="Times New Roman"/>
                        <a:cs typeface="Times New Roman"/>
                      </a:endParaRPr>
                    </a:p>
                  </a:txBody>
                  <a:tcPr marL="0" marR="0" marT="0" marB="0">
                    <a:lnL w="19050">
                      <a:solidFill>
                        <a:srgbClr val="000000"/>
                      </a:solidFill>
                      <a:prstDash val="solid"/>
                    </a:lnL>
                    <a:lnR w="19050" cap="flat" cmpd="sng" algn="ctr">
                      <a:solidFill>
                        <a:srgbClr val="000000"/>
                      </a:solidFill>
                      <a:prstDash val="solid"/>
                      <a:round/>
                      <a:headEnd type="none" w="med" len="med"/>
                      <a:tailEnd type="none" w="med" len="med"/>
                    </a:lnR>
                    <a:lnT w="19050">
                      <a:solidFill>
                        <a:srgbClr val="000000"/>
                      </a:solidFill>
                      <a:prstDash val="solid"/>
                    </a:lnT>
                    <a:lnB w="19050" cap="flat" cmpd="sng" algn="ctr">
                      <a:solidFill>
                        <a:srgbClr val="000000"/>
                      </a:solidFill>
                      <a:prstDash val="solid"/>
                      <a:round/>
                      <a:headEnd type="none" w="med" len="med"/>
                      <a:tailEnd type="none" w="med" len="med"/>
                    </a:lnB>
                  </a:tcPr>
                </a:tc>
                <a:tc>
                  <a:txBody>
                    <a:bodyPr/>
                    <a:lstStyle/>
                    <a:p>
                      <a:pPr algn="l">
                        <a:lnSpc>
                          <a:spcPct val="100000"/>
                        </a:lnSpc>
                      </a:pPr>
                      <a:r>
                        <a:rPr lang="en-US" sz="1650" dirty="0">
                          <a:latin typeface="Times New Roman"/>
                          <a:cs typeface="Times New Roman"/>
                        </a:rPr>
                        <a:t>   </a:t>
                      </a:r>
                      <a:br>
                        <a:rPr lang="en-US" sz="1650" dirty="0">
                          <a:latin typeface="Times New Roman"/>
                          <a:cs typeface="Times New Roman"/>
                        </a:rPr>
                      </a:br>
                      <a:r>
                        <a:rPr lang="en-US" sz="1650" dirty="0">
                          <a:latin typeface="Times New Roman"/>
                          <a:cs typeface="Times New Roman"/>
                        </a:rPr>
                        <a:t>  </a:t>
                      </a:r>
                      <a:r>
                        <a:rPr lang="en-IN" sz="1600" dirty="0"/>
                        <a:t>2018</a:t>
                      </a:r>
                      <a:endParaRPr sz="1650" dirty="0">
                        <a:latin typeface="Times New Roman"/>
                        <a:cs typeface="Times New Roman"/>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00000"/>
                        </a:lnSpc>
                      </a:pPr>
                      <a:r>
                        <a:rPr lang="en-US" sz="1650" dirty="0">
                          <a:latin typeface="Times New Roman"/>
                          <a:cs typeface="Times New Roman"/>
                        </a:rPr>
                        <a:t>  </a:t>
                      </a:r>
                      <a:br>
                        <a:rPr lang="en-US" sz="1650" dirty="0">
                          <a:latin typeface="Times New Roman"/>
                          <a:cs typeface="Times New Roman"/>
                        </a:rPr>
                      </a:br>
                      <a:r>
                        <a:rPr lang="en-US" sz="1650" dirty="0">
                          <a:latin typeface="Times New Roman"/>
                          <a:cs typeface="Times New Roman"/>
                        </a:rPr>
                        <a:t>  </a:t>
                      </a:r>
                      <a:r>
                        <a:rPr lang="en-IN" sz="1600" dirty="0">
                          <a:latin typeface="Times New Roman" panose="02020603050405020304" pitchFamily="18" charset="0"/>
                          <a:cs typeface="Times New Roman" panose="02020603050405020304" pitchFamily="18" charset="0"/>
                        </a:rPr>
                        <a:t>Hussain et al.</a:t>
                      </a:r>
                      <a:endParaRPr sz="1650" dirty="0">
                        <a:latin typeface="Times New Roman" panose="02020603050405020304" pitchFamily="18" charset="0"/>
                        <a:cs typeface="Times New Roman" panose="02020603050405020304" pitchFamily="18" charset="0"/>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r>
                        <a:rPr lang="en-US" sz="1600" dirty="0">
                          <a:latin typeface="Times New Roman" panose="02020603050405020304" pitchFamily="18" charset="0"/>
                          <a:cs typeface="Times New Roman" panose="02020603050405020304" pitchFamily="18" charset="0"/>
                        </a:rPr>
                        <a:t>A Survey of Image Steganography Techniques</a:t>
                      </a:r>
                      <a:endParaRPr lang="en-IN" sz="1600" dirty="0">
                        <a:latin typeface="Times New Roman" panose="02020603050405020304" pitchFamily="18" charset="0"/>
                        <a:cs typeface="Times New Roman" panose="02020603050405020304" pitchFamily="18" charset="0"/>
                      </a:endParaRP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99060" marR="93980" algn="l">
                        <a:lnSpc>
                          <a:spcPct val="100200"/>
                        </a:lnSpc>
                        <a:spcBef>
                          <a:spcPts val="1285"/>
                        </a:spcBef>
                      </a:pPr>
                      <a:r>
                        <a:rPr lang="en-US" sz="1600" dirty="0">
                          <a:latin typeface="Times New Roman" panose="02020603050405020304" pitchFamily="18" charset="0"/>
                          <a:cs typeface="Times New Roman" panose="02020603050405020304" pitchFamily="18" charset="0"/>
                        </a:rPr>
                        <a:t>Highlights that LSB methods are simple but weak against compression, noise, and steganalysis.</a:t>
                      </a:r>
                      <a:endParaRPr sz="1650" dirty="0">
                        <a:latin typeface="Times New Roman" panose="02020603050405020304" pitchFamily="18" charset="0"/>
                        <a:cs typeface="Times New Roman" panose="02020603050405020304" pitchFamily="18" charset="0"/>
                      </a:endParaRPr>
                    </a:p>
                  </a:txBody>
                  <a:tcPr marL="0" marR="0" marT="163195" marB="0">
                    <a:lnL w="19050" cap="flat" cmpd="sng" algn="ctr">
                      <a:solidFill>
                        <a:srgbClr val="000000"/>
                      </a:solidFill>
                      <a:prstDash val="solid"/>
                      <a:round/>
                      <a:headEnd type="none" w="med" len="med"/>
                      <a:tailEnd type="none" w="med" len="med"/>
                    </a:lnL>
                    <a:lnR w="19050">
                      <a:solidFill>
                        <a:srgbClr val="000000"/>
                      </a:solidFill>
                      <a:prstDash val="solid"/>
                    </a:lnR>
                    <a:lnT w="19050">
                      <a:solidFill>
                        <a:srgbClr val="000000"/>
                      </a:solidFill>
                      <a:prstDash val="soli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497114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570AD-E8C4-4543-4854-400ABD8EB91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C35F848-8135-4C11-64F3-028DFB1DFEF8}"/>
              </a:ext>
            </a:extLst>
          </p:cNvPr>
          <p:cNvSpPr txBox="1">
            <a:spLocks noGrp="1"/>
          </p:cNvSpPr>
          <p:nvPr>
            <p:ph type="title"/>
          </p:nvPr>
        </p:nvSpPr>
        <p:spPr>
          <a:xfrm>
            <a:off x="546101" y="368247"/>
            <a:ext cx="9220199" cy="563244"/>
          </a:xfrm>
          <a:prstGeom prst="rect">
            <a:avLst/>
          </a:prstGeom>
        </p:spPr>
        <p:txBody>
          <a:bodyPr vert="horz" wrap="square" lIns="0" tIns="15875" rIns="0" bIns="0" rtlCol="0">
            <a:spAutoFit/>
          </a:bodyPr>
          <a:lstStyle/>
          <a:p>
            <a:pPr marL="135890" algn="r">
              <a:lnSpc>
                <a:spcPct val="100000"/>
              </a:lnSpc>
              <a:spcBef>
                <a:spcPts val="125"/>
              </a:spcBef>
            </a:pPr>
            <a:r>
              <a:rPr lang="en-IN" dirty="0" err="1"/>
              <a:t>Cont</a:t>
            </a:r>
            <a:r>
              <a:rPr lang="en-IN" dirty="0"/>
              <a:t>…</a:t>
            </a:r>
            <a:endParaRPr spc="-10" dirty="0"/>
          </a:p>
        </p:txBody>
      </p:sp>
      <p:sp>
        <p:nvSpPr>
          <p:cNvPr id="4" name="object 4">
            <a:extLst>
              <a:ext uri="{FF2B5EF4-FFF2-40B4-BE49-F238E27FC236}">
                <a16:creationId xmlns:a16="http://schemas.microsoft.com/office/drawing/2014/main" id="{673DAA23-A000-EB9A-BEC4-233B5576FBB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775"/>
              </a:lnSpc>
            </a:pPr>
            <a:fld id="{81D60167-4931-47E6-BA6A-407CBD079E47}" type="slidenum">
              <a:rPr spc="-25" dirty="0"/>
              <a:t>9</a:t>
            </a:fld>
            <a:endParaRPr spc="-25" dirty="0"/>
          </a:p>
        </p:txBody>
      </p:sp>
      <p:graphicFrame>
        <p:nvGraphicFramePr>
          <p:cNvPr id="3" name="object 3">
            <a:extLst>
              <a:ext uri="{FF2B5EF4-FFF2-40B4-BE49-F238E27FC236}">
                <a16:creationId xmlns:a16="http://schemas.microsoft.com/office/drawing/2014/main" id="{28531AA0-2F27-C941-395B-916A16ED48EC}"/>
              </a:ext>
            </a:extLst>
          </p:cNvPr>
          <p:cNvGraphicFramePr>
            <a:graphicFrameLocks noGrp="1"/>
          </p:cNvGraphicFramePr>
          <p:nvPr>
            <p:extLst>
              <p:ext uri="{D42A27DB-BD31-4B8C-83A1-F6EECF244321}">
                <p14:modId xmlns:p14="http://schemas.microsoft.com/office/powerpoint/2010/main" val="519534102"/>
              </p:ext>
            </p:extLst>
          </p:nvPr>
        </p:nvGraphicFramePr>
        <p:xfrm>
          <a:off x="801767" y="1038225"/>
          <a:ext cx="9089865" cy="5711376"/>
        </p:xfrm>
        <a:graphic>
          <a:graphicData uri="http://schemas.openxmlformats.org/drawingml/2006/table">
            <a:tbl>
              <a:tblPr firstRow="1" bandRow="1">
                <a:tableStyleId>{2D5ABB26-0587-4C30-8999-92F81FD0307C}</a:tableStyleId>
              </a:tblPr>
              <a:tblGrid>
                <a:gridCol w="693172">
                  <a:extLst>
                    <a:ext uri="{9D8B030D-6E8A-4147-A177-3AD203B41FA5}">
                      <a16:colId xmlns:a16="http://schemas.microsoft.com/office/drawing/2014/main" val="20000"/>
                    </a:ext>
                  </a:extLst>
                </a:gridCol>
                <a:gridCol w="678939">
                  <a:extLst>
                    <a:ext uri="{9D8B030D-6E8A-4147-A177-3AD203B41FA5}">
                      <a16:colId xmlns:a16="http://schemas.microsoft.com/office/drawing/2014/main" val="20001"/>
                    </a:ext>
                  </a:extLst>
                </a:gridCol>
                <a:gridCol w="1420222">
                  <a:extLst>
                    <a:ext uri="{9D8B030D-6E8A-4147-A177-3AD203B41FA5}">
                      <a16:colId xmlns:a16="http://schemas.microsoft.com/office/drawing/2014/main" val="20002"/>
                    </a:ext>
                  </a:extLst>
                </a:gridCol>
                <a:gridCol w="2624040">
                  <a:extLst>
                    <a:ext uri="{9D8B030D-6E8A-4147-A177-3AD203B41FA5}">
                      <a16:colId xmlns:a16="http://schemas.microsoft.com/office/drawing/2014/main" val="20003"/>
                    </a:ext>
                  </a:extLst>
                </a:gridCol>
                <a:gridCol w="3673492">
                  <a:extLst>
                    <a:ext uri="{9D8B030D-6E8A-4147-A177-3AD203B41FA5}">
                      <a16:colId xmlns:a16="http://schemas.microsoft.com/office/drawing/2014/main" val="20004"/>
                    </a:ext>
                  </a:extLst>
                </a:gridCol>
              </a:tblGrid>
              <a:tr h="516913">
                <a:tc>
                  <a:txBody>
                    <a:bodyPr/>
                    <a:lstStyle/>
                    <a:p>
                      <a:pPr marL="116839" algn="ctr">
                        <a:lnSpc>
                          <a:spcPct val="100000"/>
                        </a:lnSpc>
                        <a:spcBef>
                          <a:spcPts val="1275"/>
                        </a:spcBef>
                      </a:pPr>
                      <a:r>
                        <a:rPr sz="1650" b="1" dirty="0">
                          <a:latin typeface="Times New Roman"/>
                          <a:cs typeface="Times New Roman"/>
                        </a:rPr>
                        <a:t>S.</a:t>
                      </a:r>
                      <a:r>
                        <a:rPr sz="1650" b="1" spc="5" dirty="0">
                          <a:latin typeface="Times New Roman"/>
                          <a:cs typeface="Times New Roman"/>
                        </a:rPr>
                        <a:t> </a:t>
                      </a:r>
                      <a:r>
                        <a:rPr sz="1650" b="1" spc="-25" dirty="0">
                          <a:latin typeface="Times New Roman"/>
                          <a:cs typeface="Times New Roman"/>
                        </a:rPr>
                        <a:t>No</a:t>
                      </a:r>
                      <a:endParaRPr sz="1650" b="1" dirty="0">
                        <a:latin typeface="Times New Roman"/>
                        <a:cs typeface="Times New Roman"/>
                      </a:endParaRPr>
                    </a:p>
                  </a:txBody>
                  <a:tcPr marL="0" marR="0" marT="161925"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123189" algn="ctr">
                        <a:lnSpc>
                          <a:spcPct val="100000"/>
                        </a:lnSpc>
                      </a:pPr>
                      <a:r>
                        <a:rPr lang="en-US" sz="1650" b="1" dirty="0">
                          <a:solidFill>
                            <a:schemeClr val="tx1"/>
                          </a:solidFill>
                          <a:latin typeface="Times New Roman"/>
                          <a:ea typeface="+mn-ea"/>
                          <a:cs typeface="Times New Roman"/>
                        </a:rPr>
                        <a:t>Year</a:t>
                      </a:r>
                      <a:endParaRPr sz="1650" b="1" dirty="0">
                        <a:solidFill>
                          <a:schemeClr val="tx1"/>
                        </a:solidFill>
                        <a:latin typeface="Times New Roman"/>
                        <a:ea typeface="+mn-ea"/>
                        <a:cs typeface="Times New Roman"/>
                      </a:endParaRPr>
                    </a:p>
                  </a:txBody>
                  <a:tcPr marL="0" marR="0" marT="47625"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322580" algn="ctr">
                        <a:lnSpc>
                          <a:spcPct val="100000"/>
                        </a:lnSpc>
                        <a:spcBef>
                          <a:spcPts val="1275"/>
                        </a:spcBef>
                      </a:pPr>
                      <a:r>
                        <a:rPr sz="1650" b="1" spc="-10" dirty="0">
                          <a:latin typeface="Times New Roman"/>
                          <a:cs typeface="Times New Roman"/>
                        </a:rPr>
                        <a:t>Authors</a:t>
                      </a:r>
                      <a:endParaRPr sz="1650" b="1" dirty="0">
                        <a:latin typeface="Times New Roman"/>
                        <a:cs typeface="Times New Roman"/>
                      </a:endParaRPr>
                    </a:p>
                  </a:txBody>
                  <a:tcPr marL="0" marR="0" marT="161925"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1275"/>
                        </a:spcBef>
                      </a:pPr>
                      <a:r>
                        <a:rPr sz="1650" b="1" spc="-10" dirty="0">
                          <a:latin typeface="Times New Roman"/>
                          <a:cs typeface="Times New Roman"/>
                        </a:rPr>
                        <a:t>Title</a:t>
                      </a:r>
                      <a:endParaRPr sz="1650" b="1" dirty="0">
                        <a:latin typeface="Times New Roman"/>
                        <a:cs typeface="Times New Roman"/>
                      </a:endParaRPr>
                    </a:p>
                  </a:txBody>
                  <a:tcPr marL="0" marR="0" marT="161925"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1275"/>
                        </a:spcBef>
                      </a:pPr>
                      <a:r>
                        <a:rPr sz="1650" b="1" spc="-10" dirty="0">
                          <a:latin typeface="Times New Roman"/>
                          <a:cs typeface="Times New Roman"/>
                        </a:rPr>
                        <a:t>Outcomes</a:t>
                      </a:r>
                      <a:endParaRPr sz="1650" b="1" dirty="0">
                        <a:latin typeface="Times New Roman"/>
                        <a:cs typeface="Times New Roman"/>
                      </a:endParaRPr>
                    </a:p>
                  </a:txBody>
                  <a:tcPr marL="0" marR="0" marT="161925"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847888">
                <a:tc>
                  <a:txBody>
                    <a:bodyPr/>
                    <a:lstStyle/>
                    <a:p>
                      <a:pPr algn="ctr">
                        <a:lnSpc>
                          <a:spcPct val="100000"/>
                        </a:lnSpc>
                      </a:pPr>
                      <a:r>
                        <a:rPr lang="en-US" sz="1650" dirty="0">
                          <a:latin typeface="Times New Roman" panose="02020603050405020304" pitchFamily="18" charset="0"/>
                          <a:cs typeface="Times New Roman" panose="02020603050405020304" pitchFamily="18" charset="0"/>
                        </a:rPr>
                        <a:t>6</a:t>
                      </a:r>
                      <a:endParaRPr sz="1650" dirty="0">
                        <a:latin typeface="Times New Roman" panose="02020603050405020304" pitchFamily="18" charset="0"/>
                        <a:cs typeface="Times New Roman" panose="02020603050405020304" pitchFamily="18" charset="0"/>
                      </a:endParaRPr>
                    </a:p>
                  </a:txBody>
                  <a:tcPr marL="0" marR="0" marT="0" marB="0" anchor="ctr">
                    <a:lnL w="19050">
                      <a:solidFill>
                        <a:srgbClr val="000000"/>
                      </a:solidFill>
                      <a:prstDash val="soli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a:solidFill>
                        <a:srgbClr val="000000"/>
                      </a:solidFill>
                      <a:prstDash val="solid"/>
                    </a:lnB>
                  </a:tcPr>
                </a:tc>
                <a:tc>
                  <a:txBody>
                    <a:bodyPr/>
                    <a:lstStyle/>
                    <a:p>
                      <a:pPr algn="ctr">
                        <a:lnSpc>
                          <a:spcPct val="100000"/>
                        </a:lnSpc>
                      </a:pPr>
                      <a:r>
                        <a:rPr sz="1650" spc="-25" dirty="0">
                          <a:solidFill>
                            <a:schemeClr val="tx1"/>
                          </a:solidFill>
                          <a:latin typeface="Times New Roman" panose="02020603050405020304" pitchFamily="18" charset="0"/>
                          <a:cs typeface="Times New Roman" panose="02020603050405020304" pitchFamily="18" charset="0"/>
                        </a:rPr>
                        <a:t>202</a:t>
                      </a:r>
                      <a:r>
                        <a:rPr lang="en-US" sz="1650" spc="-25" dirty="0">
                          <a:solidFill>
                            <a:schemeClr val="tx1"/>
                          </a:solidFill>
                          <a:latin typeface="Times New Roman" panose="02020603050405020304" pitchFamily="18" charset="0"/>
                          <a:cs typeface="Times New Roman" panose="02020603050405020304" pitchFamily="18" charset="0"/>
                        </a:rPr>
                        <a:t>5</a:t>
                      </a:r>
                      <a:endParaRPr sz="1650" dirty="0">
                        <a:solidFill>
                          <a:schemeClr val="tx1"/>
                        </a:solidFill>
                        <a:latin typeface="Times New Roman" panose="02020603050405020304" pitchFamily="18" charset="0"/>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100330" marR="287655" algn="ctr">
                        <a:lnSpc>
                          <a:spcPct val="100600"/>
                        </a:lnSpc>
                      </a:pPr>
                      <a:r>
                        <a:rPr lang="en-IN" sz="1600" dirty="0">
                          <a:latin typeface="Times New Roman" panose="02020603050405020304" pitchFamily="18" charset="0"/>
                          <a:cs typeface="Times New Roman" panose="02020603050405020304" pitchFamily="18" charset="0"/>
                        </a:rPr>
                        <a:t>Zhang, Ji &amp; </a:t>
                      </a:r>
                      <a:r>
                        <a:rPr lang="en-IN" sz="1600" dirty="0" err="1">
                          <a:latin typeface="Times New Roman" panose="02020603050405020304" pitchFamily="18" charset="0"/>
                          <a:cs typeface="Times New Roman" panose="02020603050405020304" pitchFamily="18" charset="0"/>
                        </a:rPr>
                        <a:t>Lv</a:t>
                      </a:r>
                      <a:endParaRPr sz="1650" dirty="0">
                        <a:solidFill>
                          <a:schemeClr val="tx1"/>
                        </a:solidFill>
                        <a:latin typeface="Times New Roman" panose="02020603050405020304" pitchFamily="18" charset="0"/>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100330" algn="l">
                        <a:lnSpc>
                          <a:spcPct val="100000"/>
                        </a:lnSpc>
                        <a:spcBef>
                          <a:spcPts val="280"/>
                        </a:spcBef>
                      </a:pPr>
                      <a:r>
                        <a:rPr lang="en-US" sz="1600" dirty="0">
                          <a:latin typeface="Times New Roman" panose="02020603050405020304" pitchFamily="18" charset="0"/>
                          <a:cs typeface="Times New Roman" panose="02020603050405020304" pitchFamily="18" charset="0"/>
                        </a:rPr>
                        <a:t>Edge-Guided Dual-Stream U-Net for Secure Image Steganography</a:t>
                      </a:r>
                      <a:endParaRPr sz="1650" dirty="0">
                        <a:latin typeface="Times New Roman" panose="02020603050405020304" pitchFamily="18" charset="0"/>
                        <a:cs typeface="Times New Roman" panose="02020603050405020304" pitchFamily="18" charset="0"/>
                      </a:endParaRPr>
                    </a:p>
                  </a:txBody>
                  <a:tcPr marL="0" marR="0" marT="3556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99060" marR="92710" algn="l">
                        <a:lnSpc>
                          <a:spcPct val="100200"/>
                        </a:lnSpc>
                        <a:spcBef>
                          <a:spcPts val="275"/>
                        </a:spcBef>
                      </a:pPr>
                      <a:r>
                        <a:rPr lang="en-US" sz="1600" dirty="0">
                          <a:latin typeface="Times New Roman" panose="02020603050405020304" pitchFamily="18" charset="0"/>
                          <a:cs typeface="Times New Roman" panose="02020603050405020304" pitchFamily="18" charset="0"/>
                        </a:rPr>
                        <a:t>Deep U-Net based edge-guided model gives high-quality </a:t>
                      </a:r>
                      <a:r>
                        <a:rPr lang="en-US" sz="1600" dirty="0" err="1">
                          <a:latin typeface="Times New Roman" panose="02020603050405020304" pitchFamily="18" charset="0"/>
                          <a:cs typeface="Times New Roman" panose="02020603050405020304" pitchFamily="18" charset="0"/>
                        </a:rPr>
                        <a:t>stego</a:t>
                      </a:r>
                      <a:r>
                        <a:rPr lang="en-US" sz="1600" dirty="0">
                          <a:latin typeface="Times New Roman" panose="02020603050405020304" pitchFamily="18" charset="0"/>
                          <a:cs typeface="Times New Roman" panose="02020603050405020304" pitchFamily="18" charset="0"/>
                        </a:rPr>
                        <a:t> images and accurate extraction.</a:t>
                      </a:r>
                      <a:endParaRPr sz="1650" dirty="0">
                        <a:latin typeface="Times New Roman" panose="02020603050405020304" pitchFamily="18" charset="0"/>
                        <a:cs typeface="Times New Roman" panose="02020603050405020304" pitchFamily="18" charset="0"/>
                      </a:endParaRPr>
                    </a:p>
                  </a:txBody>
                  <a:tcPr marL="0" marR="0" marT="34925" marB="0" anchor="ctr">
                    <a:lnL w="19050" cap="flat" cmpd="sng" algn="ctr">
                      <a:solidFill>
                        <a:srgbClr val="000000"/>
                      </a:solidFill>
                      <a:prstDash val="solid"/>
                      <a:round/>
                      <a:headEnd type="none" w="med" len="med"/>
                      <a:tailEnd type="none" w="med" len="med"/>
                    </a:lnL>
                    <a:lnR w="19050">
                      <a:solidFill>
                        <a:srgbClr val="000000"/>
                      </a:solidFill>
                      <a:prstDash val="solid"/>
                    </a:lnR>
                    <a:lnT w="19050" cap="flat" cmpd="sng" algn="ctr">
                      <a:solidFill>
                        <a:srgbClr val="000000"/>
                      </a:solidFill>
                      <a:prstDash val="solid"/>
                      <a:round/>
                      <a:headEnd type="none" w="med" len="med"/>
                      <a:tailEnd type="none" w="med" len="med"/>
                    </a:lnT>
                    <a:lnB w="19050">
                      <a:solidFill>
                        <a:srgbClr val="000000"/>
                      </a:solidFill>
                      <a:prstDash val="solid"/>
                    </a:lnB>
                  </a:tcPr>
                </a:tc>
                <a:extLst>
                  <a:ext uri="{0D108BD9-81ED-4DB2-BD59-A6C34878D82A}">
                    <a16:rowId xmlns:a16="http://schemas.microsoft.com/office/drawing/2014/main" val="10001"/>
                  </a:ext>
                </a:extLst>
              </a:tr>
              <a:tr h="1006540">
                <a:tc>
                  <a:txBody>
                    <a:bodyPr/>
                    <a:lstStyle/>
                    <a:p>
                      <a:pPr algn="ctr">
                        <a:lnSpc>
                          <a:spcPct val="100000"/>
                        </a:lnSpc>
                      </a:pPr>
                      <a:r>
                        <a:rPr lang="en-US" sz="1650" dirty="0">
                          <a:latin typeface="Times New Roman" panose="02020603050405020304" pitchFamily="18" charset="0"/>
                          <a:cs typeface="Times New Roman" panose="02020603050405020304" pitchFamily="18" charset="0"/>
                        </a:rPr>
                        <a:t>7</a:t>
                      </a:r>
                      <a:endParaRPr sz="1650" dirty="0">
                        <a:latin typeface="Times New Roman" panose="02020603050405020304" pitchFamily="18" charset="0"/>
                        <a:cs typeface="Times New Roman" panose="02020603050405020304" pitchFamily="18" charset="0"/>
                      </a:endParaRPr>
                    </a:p>
                  </a:txBody>
                  <a:tcPr marL="0" marR="0" marT="0" marB="0" anchor="ctr">
                    <a:lnL w="19050">
                      <a:solidFill>
                        <a:srgbClr val="000000"/>
                      </a:solidFill>
                      <a:prstDash val="solid"/>
                    </a:lnL>
                    <a:lnR w="19050" cap="flat" cmpd="sng" algn="ctr">
                      <a:solidFill>
                        <a:srgbClr val="000000"/>
                      </a:solidFill>
                      <a:prstDash val="solid"/>
                      <a:round/>
                      <a:headEnd type="none" w="med" len="med"/>
                      <a:tailEnd type="none" w="med" len="med"/>
                    </a:lnR>
                    <a:lnT w="19050">
                      <a:solidFill>
                        <a:srgbClr val="000000"/>
                      </a:solidFill>
                      <a:prstDash val="solid"/>
                    </a:lnT>
                    <a:lnB w="19050">
                      <a:solidFill>
                        <a:srgbClr val="000000"/>
                      </a:solidFill>
                      <a:prstDash val="solid"/>
                    </a:lnB>
                  </a:tcPr>
                </a:tc>
                <a:tc>
                  <a:txBody>
                    <a:bodyPr/>
                    <a:lstStyle/>
                    <a:p>
                      <a:pPr algn="ctr">
                        <a:lnSpc>
                          <a:spcPct val="100000"/>
                        </a:lnSpc>
                      </a:pPr>
                      <a:r>
                        <a:rPr lang="en-IN" sz="1600" dirty="0">
                          <a:latin typeface="Times New Roman" panose="02020603050405020304" pitchFamily="18" charset="0"/>
                          <a:cs typeface="Times New Roman" panose="02020603050405020304" pitchFamily="18" charset="0"/>
                        </a:rPr>
                        <a:t>2023</a:t>
                      </a:r>
                      <a:endParaRPr sz="1650" dirty="0">
                        <a:latin typeface="Times New Roman" panose="02020603050405020304" pitchFamily="18" charset="0"/>
                        <a:cs typeface="Times New Roman" panose="02020603050405020304" pitchFamily="18" charset="0"/>
                      </a:endParaRPr>
                    </a:p>
                  </a:txBody>
                  <a:tcPr marL="0" marR="0" marT="173990"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100330" marR="282575" algn="ctr">
                        <a:lnSpc>
                          <a:spcPct val="100600"/>
                        </a:lnSpc>
                      </a:pPr>
                      <a:r>
                        <a:rPr lang="en-IN" sz="1600" dirty="0">
                          <a:latin typeface="Times New Roman" panose="02020603050405020304" pitchFamily="18" charset="0"/>
                          <a:cs typeface="Times New Roman" panose="02020603050405020304" pitchFamily="18" charset="0"/>
                        </a:rPr>
                        <a:t>Sultana et al.</a:t>
                      </a:r>
                      <a:endParaRPr sz="1650" dirty="0">
                        <a:latin typeface="Times New Roman" panose="02020603050405020304" pitchFamily="18" charset="0"/>
                        <a:cs typeface="Times New Roman" panose="02020603050405020304" pitchFamily="18" charset="0"/>
                      </a:endParaRPr>
                    </a:p>
                  </a:txBody>
                  <a:tcPr marL="0" marR="0" marT="172720"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100330" marR="129539" algn="l">
                        <a:lnSpc>
                          <a:spcPct val="100299"/>
                        </a:lnSpc>
                        <a:spcBef>
                          <a:spcPts val="285"/>
                        </a:spcBef>
                      </a:pPr>
                      <a:r>
                        <a:rPr lang="en-US" sz="1600" dirty="0">
                          <a:latin typeface="Times New Roman" panose="02020603050405020304" pitchFamily="18" charset="0"/>
                          <a:cs typeface="Times New Roman" panose="02020603050405020304" pitchFamily="18" charset="0"/>
                        </a:rPr>
                        <a:t>Hybrid Edge Detection and LBP Code-Based Robust Image Steganography Method</a:t>
                      </a:r>
                      <a:endParaRPr sz="1650" dirty="0">
                        <a:latin typeface="Times New Roman" panose="02020603050405020304" pitchFamily="18" charset="0"/>
                        <a:cs typeface="Times New Roman" panose="02020603050405020304" pitchFamily="18" charset="0"/>
                      </a:endParaRPr>
                    </a:p>
                  </a:txBody>
                  <a:tcPr marL="0" marR="0" marT="36195" marB="0" anchor="ctr">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99060" marR="94615" algn="l">
                        <a:lnSpc>
                          <a:spcPct val="100299"/>
                        </a:lnSpc>
                        <a:spcBef>
                          <a:spcPts val="285"/>
                        </a:spcBef>
                      </a:pPr>
                      <a:r>
                        <a:rPr lang="en-US" sz="1600" dirty="0">
                          <a:latin typeface="Times New Roman" panose="02020603050405020304" pitchFamily="18" charset="0"/>
                          <a:cs typeface="Times New Roman" panose="02020603050405020304" pitchFamily="18" charset="0"/>
                        </a:rPr>
                        <a:t>Combines edge + texture features to improve security and imperceptibility.</a:t>
                      </a:r>
                      <a:endParaRPr sz="1650" dirty="0">
                        <a:latin typeface="Times New Roman" panose="02020603050405020304" pitchFamily="18" charset="0"/>
                        <a:cs typeface="Times New Roman" panose="02020603050405020304" pitchFamily="18" charset="0"/>
                      </a:endParaRPr>
                    </a:p>
                  </a:txBody>
                  <a:tcPr marL="0" marR="0" marT="36195" marB="0" anchor="ctr">
                    <a:lnL w="19050" cap="flat" cmpd="sng" algn="ctr">
                      <a:solidFill>
                        <a:srgbClr val="000000"/>
                      </a:solidFill>
                      <a:prstDash val="solid"/>
                      <a:round/>
                      <a:headEnd type="none" w="med" len="med"/>
                      <a:tailEnd type="none" w="med" len="me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2"/>
                  </a:ext>
                </a:extLst>
              </a:tr>
              <a:tr h="1052644">
                <a:tc>
                  <a:txBody>
                    <a:bodyPr/>
                    <a:lstStyle/>
                    <a:p>
                      <a:pPr algn="ctr">
                        <a:lnSpc>
                          <a:spcPct val="100000"/>
                        </a:lnSpc>
                      </a:pPr>
                      <a:r>
                        <a:rPr lang="en-US" sz="1650" dirty="0">
                          <a:latin typeface="Times New Roman" panose="02020603050405020304" pitchFamily="18" charset="0"/>
                          <a:cs typeface="Times New Roman" panose="02020603050405020304" pitchFamily="18" charset="0"/>
                        </a:rPr>
                        <a:t>8</a:t>
                      </a:r>
                      <a:endParaRPr sz="1650" dirty="0">
                        <a:latin typeface="Times New Roman" panose="02020603050405020304" pitchFamily="18" charset="0"/>
                        <a:cs typeface="Times New Roman" panose="02020603050405020304" pitchFamily="18" charset="0"/>
                      </a:endParaRPr>
                    </a:p>
                  </a:txBody>
                  <a:tcPr marL="0" marR="0" marT="0" marB="0" anchor="ctr">
                    <a:lnL w="19050">
                      <a:solidFill>
                        <a:srgbClr val="000000"/>
                      </a:solidFill>
                      <a:prstDash val="solid"/>
                    </a:lnL>
                    <a:lnR w="19050">
                      <a:solidFill>
                        <a:srgbClr val="000000"/>
                      </a:solidFill>
                      <a:prstDash val="solid"/>
                    </a:lnR>
                    <a:lnT w="19050">
                      <a:solidFill>
                        <a:srgbClr val="000000"/>
                      </a:solidFill>
                      <a:prstDash val="solid"/>
                    </a:lnT>
                    <a:lnB w="19050" cap="flat" cmpd="sng" algn="ctr">
                      <a:solidFill>
                        <a:srgbClr val="000000"/>
                      </a:solidFill>
                      <a:prstDash val="solid"/>
                      <a:round/>
                      <a:headEnd type="none" w="med" len="med"/>
                      <a:tailEnd type="none" w="med" len="med"/>
                    </a:lnB>
                  </a:tcPr>
                </a:tc>
                <a:tc>
                  <a:txBody>
                    <a:bodyPr/>
                    <a:lstStyle/>
                    <a:p>
                      <a:pPr>
                        <a:lnSpc>
                          <a:spcPct val="100000"/>
                        </a:lnSpc>
                      </a:pPr>
                      <a:r>
                        <a:rPr lang="en-US" sz="165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2025</a:t>
                      </a:r>
                      <a:endParaRPr sz="1650" dirty="0">
                        <a:latin typeface="Times New Roman" panose="02020603050405020304" pitchFamily="18" charset="0"/>
                        <a:cs typeface="Times New Roman" panose="02020603050405020304" pitchFamily="18" charset="0"/>
                      </a:endParaRPr>
                    </a:p>
                  </a:txBody>
                  <a:tcPr marL="0" marR="0" marT="0" marB="0" anchor="ctr">
                    <a:lnL w="19050">
                      <a:solidFill>
                        <a:srgbClr val="000000"/>
                      </a:solidFill>
                      <a:prstDash val="solid"/>
                    </a:lnL>
                    <a:lnR w="19050">
                      <a:solidFill>
                        <a:srgbClr val="000000"/>
                      </a:solidFill>
                      <a:prstDash val="soli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Almuhammadi</a:t>
                      </a:r>
                      <a:r>
                        <a:rPr lang="en-US" sz="1600" dirty="0">
                          <a:latin typeface="Times New Roman" panose="02020603050405020304" pitchFamily="18" charset="0"/>
                          <a:cs typeface="Times New Roman" panose="02020603050405020304" pitchFamily="18" charset="0"/>
                        </a:rPr>
                        <a:t>         </a:t>
                      </a:r>
                    </a:p>
                    <a:p>
                      <a:pPr algn="ctr">
                        <a:lnSpc>
                          <a:spcPct val="100000"/>
                        </a:lnSpc>
                      </a:pPr>
                      <a:r>
                        <a:rPr lang="en-US" sz="1600" dirty="0">
                          <a:latin typeface="Times New Roman" panose="02020603050405020304" pitchFamily="18" charset="0"/>
                          <a:cs typeface="Times New Roman" panose="02020603050405020304" pitchFamily="18" charset="0"/>
                        </a:rPr>
                        <a:t>   et al.</a:t>
                      </a:r>
                      <a:endParaRPr sz="1600" dirty="0">
                        <a:latin typeface="Times New Roman" panose="02020603050405020304" pitchFamily="18" charset="0"/>
                        <a:cs typeface="Times New Roman" panose="02020603050405020304" pitchFamily="18" charset="0"/>
                      </a:endParaRPr>
                    </a:p>
                  </a:txBody>
                  <a:tcPr marL="0" marR="0" marT="0" marB="0" anchor="ctr">
                    <a:lnL w="19050">
                      <a:solidFill>
                        <a:srgbClr val="000000"/>
                      </a:solidFill>
                      <a:prstDash val="solid"/>
                    </a:lnL>
                    <a:lnR w="19050">
                      <a:solidFill>
                        <a:srgbClr val="000000"/>
                      </a:solidFill>
                      <a:prstDash val="soli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100330" marR="233679" algn="l">
                        <a:lnSpc>
                          <a:spcPct val="100200"/>
                        </a:lnSpc>
                        <a:spcBef>
                          <a:spcPts val="290"/>
                        </a:spcBef>
                      </a:pPr>
                      <a:r>
                        <a:rPr lang="en-US" sz="1600" dirty="0">
                          <a:latin typeface="Times New Roman" panose="02020603050405020304" pitchFamily="18" charset="0"/>
                          <a:cs typeface="Times New Roman" panose="02020603050405020304" pitchFamily="18" charset="0"/>
                        </a:rPr>
                        <a:t>Secure Edge-Guided Adaptive Image Steganography Using HED-Based Attention Maps and CNN</a:t>
                      </a:r>
                      <a:endParaRPr sz="1650" dirty="0">
                        <a:latin typeface="Times New Roman" panose="02020603050405020304" pitchFamily="18" charset="0"/>
                        <a:cs typeface="Times New Roman" panose="02020603050405020304" pitchFamily="18" charset="0"/>
                      </a:endParaRPr>
                    </a:p>
                  </a:txBody>
                  <a:tcPr marL="0" marR="0" marT="36830" marB="0" anchor="ctr">
                    <a:lnL w="19050">
                      <a:solidFill>
                        <a:srgbClr val="000000"/>
                      </a:solidFill>
                      <a:prstDash val="solid"/>
                    </a:lnL>
                    <a:lnR w="19050">
                      <a:solidFill>
                        <a:srgbClr val="000000"/>
                      </a:solidFill>
                      <a:prstDash val="soli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99060" marR="93980" algn="l">
                        <a:lnSpc>
                          <a:spcPct val="100200"/>
                        </a:lnSpc>
                        <a:spcBef>
                          <a:spcPts val="1285"/>
                        </a:spcBef>
                      </a:pPr>
                      <a:r>
                        <a:rPr lang="en-US" sz="1600" dirty="0">
                          <a:latin typeface="Times New Roman" panose="02020603050405020304" pitchFamily="18" charset="0"/>
                          <a:cs typeface="Times New Roman" panose="02020603050405020304" pitchFamily="18" charset="0"/>
                        </a:rPr>
                        <a:t>HED attention maps + CNN improve adaptive embedding and robustness.</a:t>
                      </a:r>
                      <a:endParaRPr sz="1650" dirty="0">
                        <a:latin typeface="Times New Roman" panose="02020603050405020304" pitchFamily="18" charset="0"/>
                        <a:cs typeface="Times New Roman" panose="02020603050405020304" pitchFamily="18" charset="0"/>
                      </a:endParaRPr>
                    </a:p>
                  </a:txBody>
                  <a:tcPr marL="0" marR="0" marT="163195" marB="0" anchor="ctr">
                    <a:lnL w="19050">
                      <a:solidFill>
                        <a:srgbClr val="000000"/>
                      </a:solidFill>
                      <a:prstDash val="solid"/>
                    </a:lnL>
                    <a:lnR w="19050">
                      <a:solidFill>
                        <a:srgbClr val="000000"/>
                      </a:solidFill>
                      <a:prstDash val="solid"/>
                    </a:lnR>
                    <a:lnT w="19050">
                      <a:solidFill>
                        <a:srgbClr val="000000"/>
                      </a:solidFill>
                      <a:prstDash val="soli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66800">
                <a:tc>
                  <a:txBody>
                    <a:bodyPr/>
                    <a:lstStyle/>
                    <a:p>
                      <a:pPr algn="ctr">
                        <a:lnSpc>
                          <a:spcPct val="100000"/>
                        </a:lnSpc>
                      </a:pPr>
                      <a:r>
                        <a:rPr lang="en-US" sz="1650" dirty="0">
                          <a:latin typeface="Times New Roman" panose="02020603050405020304" pitchFamily="18" charset="0"/>
                          <a:cs typeface="Times New Roman" panose="02020603050405020304" pitchFamily="18" charset="0"/>
                        </a:rPr>
                        <a:t>9</a:t>
                      </a:r>
                      <a:endParaRPr sz="1650" dirty="0">
                        <a:latin typeface="Times New Roman" panose="02020603050405020304" pitchFamily="18" charset="0"/>
                        <a:cs typeface="Times New Roman" panose="02020603050405020304" pitchFamily="18" charset="0"/>
                      </a:endParaRPr>
                    </a:p>
                  </a:txBody>
                  <a:tcPr marL="0" marR="0" marT="0" marB="0" anchor="ctr">
                    <a:lnL w="19050">
                      <a:solidFill>
                        <a:srgbClr val="000000"/>
                      </a:solidFill>
                      <a:prstDash val="solid"/>
                    </a:lnL>
                    <a:lnR w="19050" cap="flat" cmpd="sng" algn="ctr">
                      <a:solidFill>
                        <a:srgbClr val="000000"/>
                      </a:solidFill>
                      <a:prstDash val="solid"/>
                      <a:round/>
                      <a:headEnd type="none" w="med" len="med"/>
                      <a:tailEnd type="none" w="med" len="med"/>
                    </a:lnR>
                    <a:lnT w="19050">
                      <a:solidFill>
                        <a:srgbClr val="000000"/>
                      </a:solidFill>
                      <a:prstDash val="solid"/>
                    </a:lnT>
                    <a:lnB w="19050" cap="flat" cmpd="sng" algn="ctr">
                      <a:solidFill>
                        <a:srgbClr val="000000"/>
                      </a:solidFill>
                      <a:prstDash val="solid"/>
                      <a:round/>
                      <a:headEnd type="none" w="med" len="med"/>
                      <a:tailEnd type="none" w="med" len="med"/>
                    </a:lnB>
                  </a:tcPr>
                </a:tc>
                <a:tc>
                  <a:txBody>
                    <a:bodyPr/>
                    <a:lstStyle/>
                    <a:p>
                      <a:pPr>
                        <a:lnSpc>
                          <a:spcPct val="100000"/>
                        </a:lnSpc>
                      </a:pPr>
                      <a:r>
                        <a:rPr lang="en-US" sz="165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2024</a:t>
                      </a:r>
                      <a:endParaRPr sz="1650" dirty="0">
                        <a:latin typeface="Times New Roman" panose="02020603050405020304" pitchFamily="18" charset="0"/>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Habiban,Hamad</a:t>
                      </a:r>
                      <a:r>
                        <a:rPr lang="en-IN" sz="1600" dirty="0">
                          <a:latin typeface="Times New Roman" panose="02020603050405020304" pitchFamily="18" charset="0"/>
                          <a:cs typeface="Times New Roman" panose="02020603050405020304" pitchFamily="18" charset="0"/>
                        </a:rPr>
                        <a:t>        &amp; Mohsin</a:t>
                      </a:r>
                      <a:endParaRPr sz="1600" dirty="0">
                        <a:latin typeface="Times New Roman" panose="02020603050405020304" pitchFamily="18" charset="0"/>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100330" marR="233679" algn="l">
                        <a:lnSpc>
                          <a:spcPct val="100200"/>
                        </a:lnSpc>
                        <a:spcBef>
                          <a:spcPts val="290"/>
                        </a:spcBef>
                      </a:pPr>
                      <a:r>
                        <a:rPr lang="en-US" sz="1600" dirty="0">
                          <a:latin typeface="Times New Roman" panose="02020603050405020304" pitchFamily="18" charset="0"/>
                          <a:cs typeface="Times New Roman" panose="02020603050405020304" pitchFamily="18" charset="0"/>
                        </a:rPr>
                        <a:t>Hybrid Edge Detection Methods in Image Steganography for High Embedding Capacity</a:t>
                      </a:r>
                      <a:endParaRPr sz="1650" dirty="0">
                        <a:latin typeface="Times New Roman" panose="02020603050405020304" pitchFamily="18" charset="0"/>
                        <a:cs typeface="Times New Roman" panose="02020603050405020304" pitchFamily="18" charset="0"/>
                      </a:endParaRPr>
                    </a:p>
                  </a:txBody>
                  <a:tcPr marL="0" marR="0" marT="3683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99060" marR="93980" algn="l">
                        <a:lnSpc>
                          <a:spcPct val="100200"/>
                        </a:lnSpc>
                        <a:spcBef>
                          <a:spcPts val="1285"/>
                        </a:spcBef>
                      </a:pPr>
                      <a:r>
                        <a:rPr lang="en-US" sz="1600" dirty="0">
                          <a:latin typeface="Times New Roman" panose="02020603050405020304" pitchFamily="18" charset="0"/>
                          <a:cs typeface="Times New Roman" panose="02020603050405020304" pitchFamily="18" charset="0"/>
                        </a:rPr>
                        <a:t>Hybrid edge detection improves embedding capacity while maintaining good PSNR/SSIM.</a:t>
                      </a:r>
                      <a:endParaRPr sz="1650" dirty="0">
                        <a:latin typeface="Times New Roman" panose="02020603050405020304" pitchFamily="18" charset="0"/>
                        <a:cs typeface="Times New Roman" panose="02020603050405020304" pitchFamily="18" charset="0"/>
                      </a:endParaRPr>
                    </a:p>
                  </a:txBody>
                  <a:tcPr marL="0" marR="0" marT="163195" marB="0" anchor="ctr">
                    <a:lnL w="19050" cap="flat" cmpd="sng" algn="ctr">
                      <a:solidFill>
                        <a:srgbClr val="000000"/>
                      </a:solidFill>
                      <a:prstDash val="solid"/>
                      <a:round/>
                      <a:headEnd type="none" w="med" len="med"/>
                      <a:tailEnd type="none" w="med" len="med"/>
                    </a:lnL>
                    <a:lnR w="19050">
                      <a:solidFill>
                        <a:srgbClr val="000000"/>
                      </a:solidFill>
                      <a:prstDash val="solid"/>
                    </a:lnR>
                    <a:lnT w="19050">
                      <a:solidFill>
                        <a:srgbClr val="000000"/>
                      </a:solidFill>
                      <a:prstDash val="soli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7781049"/>
                  </a:ext>
                </a:extLst>
              </a:tr>
              <a:tr h="762000">
                <a:tc>
                  <a:txBody>
                    <a:bodyPr/>
                    <a:lstStyle/>
                    <a:p>
                      <a:pPr algn="ctr">
                        <a:lnSpc>
                          <a:spcPct val="100000"/>
                        </a:lnSpc>
                      </a:pPr>
                      <a:r>
                        <a:rPr lang="en-IN" sz="1600" dirty="0">
                          <a:latin typeface="Times New Roman" panose="02020603050405020304" pitchFamily="18" charset="0"/>
                          <a:cs typeface="Times New Roman" panose="02020603050405020304" pitchFamily="18" charset="0"/>
                        </a:rPr>
                        <a:t>10</a:t>
                      </a:r>
                      <a:endParaRPr sz="1650" dirty="0">
                        <a:latin typeface="Times New Roman" panose="02020603050405020304" pitchFamily="18" charset="0"/>
                        <a:cs typeface="Times New Roman" panose="02020603050405020304" pitchFamily="18" charset="0"/>
                      </a:endParaRPr>
                    </a:p>
                  </a:txBody>
                  <a:tcPr marL="0" marR="0" marT="0" marB="0" anchor="ctr">
                    <a:lnL w="19050">
                      <a:solidFill>
                        <a:srgbClr val="000000"/>
                      </a:solidFill>
                      <a:prstDash val="solid"/>
                    </a:lnL>
                    <a:lnR w="19050" cap="flat" cmpd="sng" algn="ctr">
                      <a:solidFill>
                        <a:srgbClr val="000000"/>
                      </a:solidFill>
                      <a:prstDash val="solid"/>
                      <a:round/>
                      <a:headEnd type="none" w="med" len="med"/>
                      <a:tailEnd type="none" w="med" len="med"/>
                    </a:lnR>
                    <a:lnT w="19050">
                      <a:solidFill>
                        <a:srgbClr val="000000"/>
                      </a:solidFill>
                      <a:prstDash val="solid"/>
                    </a:lnT>
                    <a:lnB w="19050">
                      <a:solidFill>
                        <a:srgbClr val="000000"/>
                      </a:solidFill>
                      <a:prstDash val="solid"/>
                    </a:lnB>
                  </a:tcPr>
                </a:tc>
                <a:tc>
                  <a:txBody>
                    <a:bodyPr/>
                    <a:lstStyle/>
                    <a:p>
                      <a:pPr>
                        <a:lnSpc>
                          <a:spcPct val="100000"/>
                        </a:lnSpc>
                      </a:pPr>
                      <a:r>
                        <a:rPr lang="en-US" sz="165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2025</a:t>
                      </a:r>
                      <a:endParaRPr sz="1650" dirty="0">
                        <a:latin typeface="Times New Roman" panose="02020603050405020304" pitchFamily="18" charset="0"/>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a:solidFill>
                        <a:srgbClr val="000000"/>
                      </a:solidFill>
                      <a:prstDash val="solid"/>
                    </a:lnB>
                  </a:tcPr>
                </a:tc>
                <a:tc>
                  <a:txBody>
                    <a:bodyPr/>
                    <a:lstStyle/>
                    <a:p>
                      <a:pPr algn="ctr">
                        <a:lnSpc>
                          <a:spcPct val="100000"/>
                        </a:lnSpc>
                      </a:pPr>
                      <a:r>
                        <a:rPr lang="en-US"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Singh &amp; Singh</a:t>
                      </a:r>
                      <a:endParaRPr sz="1600" dirty="0">
                        <a:latin typeface="Times New Roman" panose="02020603050405020304" pitchFamily="18" charset="0"/>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a:solidFill>
                        <a:srgbClr val="000000"/>
                      </a:solidFill>
                      <a:prstDash val="solid"/>
                    </a:lnB>
                  </a:tcPr>
                </a:tc>
                <a:tc>
                  <a:txBody>
                    <a:bodyPr/>
                    <a:lstStyle/>
                    <a:p>
                      <a:pPr marL="100330" marR="233679" algn="l">
                        <a:lnSpc>
                          <a:spcPct val="100200"/>
                        </a:lnSpc>
                        <a:spcBef>
                          <a:spcPts val="290"/>
                        </a:spcBef>
                      </a:pPr>
                      <a:r>
                        <a:rPr lang="en-US" sz="1600" dirty="0">
                          <a:latin typeface="Times New Roman" panose="02020603050405020304" pitchFamily="18" charset="0"/>
                          <a:cs typeface="Times New Roman" panose="02020603050405020304" pitchFamily="18" charset="0"/>
                        </a:rPr>
                        <a:t>Improved Edge-Based Image Steganography Using Segmentation and Random LSB Substitution</a:t>
                      </a:r>
                      <a:endParaRPr sz="1650" dirty="0">
                        <a:latin typeface="Times New Roman" panose="02020603050405020304" pitchFamily="18" charset="0"/>
                        <a:cs typeface="Times New Roman" panose="02020603050405020304" pitchFamily="18" charset="0"/>
                      </a:endParaRPr>
                    </a:p>
                  </a:txBody>
                  <a:tcPr marL="0" marR="0" marT="3683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a:solidFill>
                        <a:srgbClr val="000000"/>
                      </a:solidFill>
                      <a:prstDash val="solid"/>
                    </a:lnB>
                  </a:tcPr>
                </a:tc>
                <a:tc>
                  <a:txBody>
                    <a:bodyPr/>
                    <a:lstStyle/>
                    <a:p>
                      <a:pPr marL="99060" marR="93980" algn="l">
                        <a:lnSpc>
                          <a:spcPct val="100200"/>
                        </a:lnSpc>
                        <a:spcBef>
                          <a:spcPts val="1285"/>
                        </a:spcBef>
                      </a:pPr>
                      <a:r>
                        <a:rPr lang="en-US" sz="1600" dirty="0">
                          <a:latin typeface="Times New Roman" panose="02020603050405020304" pitchFamily="18" charset="0"/>
                          <a:cs typeface="Times New Roman" panose="02020603050405020304" pitchFamily="18" charset="0"/>
                        </a:rPr>
                        <a:t>Random edge embedding improves security compared to standard LSB.</a:t>
                      </a:r>
                      <a:endParaRPr sz="1650" dirty="0">
                        <a:latin typeface="Times New Roman" panose="02020603050405020304" pitchFamily="18" charset="0"/>
                        <a:cs typeface="Times New Roman" panose="02020603050405020304" pitchFamily="18" charset="0"/>
                      </a:endParaRPr>
                    </a:p>
                  </a:txBody>
                  <a:tcPr marL="0" marR="0" marT="163195" marB="0" anchor="ctr">
                    <a:lnL w="19050" cap="flat" cmpd="sng" algn="ctr">
                      <a:solidFill>
                        <a:srgbClr val="000000"/>
                      </a:solidFill>
                      <a:prstDash val="solid"/>
                      <a:round/>
                      <a:headEnd type="none" w="med" len="med"/>
                      <a:tailEnd type="none" w="med" len="me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623351297"/>
                  </a:ext>
                </a:extLst>
              </a:tr>
            </a:tbl>
          </a:graphicData>
        </a:graphic>
      </p:graphicFrame>
    </p:spTree>
    <p:extLst>
      <p:ext uri="{BB962C8B-B14F-4D97-AF65-F5344CB8AC3E}">
        <p14:creationId xmlns:p14="http://schemas.microsoft.com/office/powerpoint/2010/main" val="4057574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84975" y="368247"/>
            <a:ext cx="3723449" cy="570028"/>
          </a:xfrm>
          <a:prstGeom prst="rect">
            <a:avLst/>
          </a:prstGeom>
        </p:spPr>
        <p:txBody>
          <a:bodyPr vert="horz" wrap="square" lIns="0" tIns="15875" rIns="0" bIns="0" rtlCol="0">
            <a:spAutoFit/>
          </a:bodyPr>
          <a:lstStyle/>
          <a:p>
            <a:pPr marL="12700">
              <a:lnSpc>
                <a:spcPct val="100000"/>
              </a:lnSpc>
              <a:spcBef>
                <a:spcPts val="1175"/>
              </a:spcBef>
              <a:tabLst>
                <a:tab pos="390525" algn="l"/>
              </a:tabLst>
            </a:pPr>
            <a:r>
              <a:rPr lang="en-US" sz="3600" spc="-10" dirty="0"/>
              <a:t>Research Gaps </a:t>
            </a:r>
            <a:endParaRPr lang="en-US" sz="360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775"/>
              </a:lnSpc>
            </a:pPr>
            <a:fld id="{81D60167-4931-47E6-BA6A-407CBD079E47}" type="slidenum">
              <a:rPr spc="-25" dirty="0"/>
              <a:t>10</a:t>
            </a:fld>
            <a:endParaRPr spc="-25" dirty="0"/>
          </a:p>
        </p:txBody>
      </p:sp>
      <p:sp>
        <p:nvSpPr>
          <p:cNvPr id="3" name="object 3"/>
          <p:cNvSpPr txBox="1">
            <a:spLocks noGrp="1"/>
          </p:cNvSpPr>
          <p:nvPr>
            <p:ph type="body" idx="1"/>
          </p:nvPr>
        </p:nvSpPr>
        <p:spPr>
          <a:xfrm>
            <a:off x="943292" y="938275"/>
            <a:ext cx="8806814" cy="5842891"/>
          </a:xfrm>
          <a:prstGeom prst="rect">
            <a:avLst/>
          </a:prstGeom>
        </p:spPr>
        <p:txBody>
          <a:bodyPr vert="horz" wrap="square" lIns="0" tIns="173681" rIns="0" bIns="0" rtlCol="0">
            <a:spAutoFit/>
          </a:bodyPr>
          <a:lstStyle/>
          <a:p>
            <a:pPr marL="342900" indent="-342900" algn="l">
              <a:lnSpc>
                <a:spcPct val="150000"/>
              </a:lnSpc>
              <a:buFont typeface="+mj-lt"/>
              <a:buAutoNum type="arabicPeriod"/>
            </a:pPr>
            <a:r>
              <a:rPr lang="en-US" b="1" dirty="0"/>
              <a:t>Traditional LSB-based Steganography </a:t>
            </a:r>
            <a:r>
              <a:rPr lang="en-US" dirty="0"/>
              <a:t>is simple but it is weak against steganalysis and fails when the image undergoes compression, noise addition, or filtering.</a:t>
            </a:r>
          </a:p>
          <a:p>
            <a:pPr marL="342900" indent="-342900" algn="l">
              <a:lnSpc>
                <a:spcPct val="150000"/>
              </a:lnSpc>
              <a:buFont typeface="+mj-lt"/>
              <a:buAutoNum type="arabicPeriod"/>
            </a:pPr>
            <a:r>
              <a:rPr lang="en-US" dirty="0"/>
              <a:t>Many existing steganography methods embed data </a:t>
            </a:r>
            <a:r>
              <a:rPr lang="en-US" b="1" dirty="0"/>
              <a:t>uniformly across the image</a:t>
            </a:r>
            <a:r>
              <a:rPr lang="en-US" dirty="0"/>
              <a:t> without selecting the best regions, which increases distortion and makes hidden data easier to detect.</a:t>
            </a:r>
          </a:p>
          <a:p>
            <a:pPr marL="342900" indent="-342900" algn="l">
              <a:lnSpc>
                <a:spcPct val="150000"/>
              </a:lnSpc>
              <a:buFont typeface="+mj-lt"/>
              <a:buAutoNum type="arabicPeriod"/>
            </a:pPr>
            <a:r>
              <a:rPr lang="en-US" dirty="0"/>
              <a:t>Even though </a:t>
            </a:r>
            <a:r>
              <a:rPr lang="en-US" b="1" dirty="0"/>
              <a:t>edge-based embedding</a:t>
            </a:r>
            <a:r>
              <a:rPr lang="en-US" dirty="0"/>
              <a:t> improves imperceptibility, classical edge detection methods are </a:t>
            </a:r>
            <a:r>
              <a:rPr lang="en-US" b="1" dirty="0"/>
              <a:t>rule-based</a:t>
            </a:r>
            <a:r>
              <a:rPr lang="en-US" dirty="0"/>
              <a:t> and do not adapt well to different image types, textures, and complexities.</a:t>
            </a:r>
          </a:p>
          <a:p>
            <a:pPr marL="342900" indent="-342900" algn="l">
              <a:lnSpc>
                <a:spcPct val="150000"/>
              </a:lnSpc>
              <a:buFont typeface="+mj-lt"/>
              <a:buAutoNum type="arabicPeriod"/>
            </a:pPr>
            <a:r>
              <a:rPr lang="en-US" dirty="0"/>
              <a:t>Several deep learning (CNN) based approaches improve embedding and extraction, but </a:t>
            </a:r>
            <a:r>
              <a:rPr lang="en-US" b="1" dirty="0"/>
              <a:t>without edge guidance</a:t>
            </a:r>
            <a:r>
              <a:rPr lang="en-US" dirty="0"/>
              <a:t>, CNN models may still cause distortion in smooth regions and reduce invisibility.</a:t>
            </a:r>
          </a:p>
          <a:p>
            <a:pPr marL="342900" indent="-342900" algn="l">
              <a:lnSpc>
                <a:spcPct val="150000"/>
              </a:lnSpc>
              <a:buFont typeface="+mj-lt"/>
              <a:buAutoNum type="arabicPeriod"/>
            </a:pPr>
            <a:r>
              <a:rPr lang="en-US" dirty="0"/>
              <a:t>The biggest research gap remains achieving an effective balance between:</a:t>
            </a:r>
            <a:br>
              <a:rPr lang="en-US" dirty="0"/>
            </a:br>
            <a:r>
              <a:rPr lang="en-US" b="1" dirty="0"/>
              <a:t>Payload Capacity</a:t>
            </a:r>
            <a:br>
              <a:rPr lang="en-US" b="1" dirty="0"/>
            </a:br>
            <a:r>
              <a:rPr lang="en-IN" b="1" dirty="0"/>
              <a:t>Imperceptibility (PSNR, SSIM)</a:t>
            </a:r>
            <a:br>
              <a:rPr lang="en-IN" b="1" dirty="0"/>
            </a:br>
            <a:r>
              <a:rPr lang="en-IN" b="1" dirty="0"/>
              <a:t>Robustness (BER under attacks)</a:t>
            </a:r>
            <a:br>
              <a:rPr lang="en-IN" b="1" dirty="0"/>
            </a:br>
            <a:r>
              <a:rPr lang="en-IN" b="1" dirty="0"/>
              <a:t>Security (resistance to steganalysis)</a:t>
            </a:r>
          </a:p>
          <a:p>
            <a:pPr marL="342900" indent="-342900" algn="l">
              <a:lnSpc>
                <a:spcPct val="150000"/>
              </a:lnSpc>
              <a:buFont typeface="+mj-lt"/>
              <a:buAutoNum type="arabicPeriod"/>
            </a:pPr>
            <a:r>
              <a:rPr lang="en-US" dirty="0"/>
              <a:t>Most existing methods do not support adaptive embedding strength based on image complexity, which affects capacity and invisibility.</a:t>
            </a:r>
            <a:endParaRPr lang="en-US"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85B7A-EB39-CD50-B519-2BF87BB594B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83AC9C4-734C-F472-B606-263CFA7D9D68}"/>
              </a:ext>
            </a:extLst>
          </p:cNvPr>
          <p:cNvSpPr txBox="1">
            <a:spLocks noGrp="1"/>
          </p:cNvSpPr>
          <p:nvPr>
            <p:ph type="title"/>
          </p:nvPr>
        </p:nvSpPr>
        <p:spPr>
          <a:xfrm>
            <a:off x="2679700" y="547886"/>
            <a:ext cx="4909725" cy="554639"/>
          </a:xfrm>
          <a:prstGeom prst="rect">
            <a:avLst/>
          </a:prstGeom>
        </p:spPr>
        <p:txBody>
          <a:bodyPr vert="horz" wrap="square" lIns="0" tIns="15875" rIns="0" bIns="0" rtlCol="0">
            <a:spAutoFit/>
          </a:bodyPr>
          <a:lstStyle/>
          <a:p>
            <a:pPr marL="850265">
              <a:lnSpc>
                <a:spcPct val="100000"/>
              </a:lnSpc>
              <a:spcBef>
                <a:spcPts val="125"/>
              </a:spcBef>
            </a:pPr>
            <a:r>
              <a:rPr lang="en-US" spc="-10" dirty="0"/>
              <a:t>Proposed System</a:t>
            </a:r>
            <a:endParaRPr spc="-10" dirty="0"/>
          </a:p>
        </p:txBody>
      </p:sp>
      <p:sp>
        <p:nvSpPr>
          <p:cNvPr id="4" name="object 4">
            <a:extLst>
              <a:ext uri="{FF2B5EF4-FFF2-40B4-BE49-F238E27FC236}">
                <a16:creationId xmlns:a16="http://schemas.microsoft.com/office/drawing/2014/main" id="{444DAEA0-D45A-E2B0-D7DF-FD1696D6CDE7}"/>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775"/>
              </a:lnSpc>
            </a:pPr>
            <a:fld id="{81D60167-4931-47E6-BA6A-407CBD079E47}" type="slidenum">
              <a:rPr spc="-25" dirty="0"/>
              <a:t>11</a:t>
            </a:fld>
            <a:endParaRPr spc="-25" dirty="0"/>
          </a:p>
        </p:txBody>
      </p:sp>
      <p:sp>
        <p:nvSpPr>
          <p:cNvPr id="3" name="object 3">
            <a:extLst>
              <a:ext uri="{FF2B5EF4-FFF2-40B4-BE49-F238E27FC236}">
                <a16:creationId xmlns:a16="http://schemas.microsoft.com/office/drawing/2014/main" id="{E3DC1919-B5A8-7F02-2DB9-F1D2AAD0EB93}"/>
              </a:ext>
            </a:extLst>
          </p:cNvPr>
          <p:cNvSpPr txBox="1">
            <a:spLocks noGrp="1"/>
          </p:cNvSpPr>
          <p:nvPr>
            <p:ph type="body" idx="1"/>
          </p:nvPr>
        </p:nvSpPr>
        <p:spPr>
          <a:xfrm>
            <a:off x="859528" y="1135664"/>
            <a:ext cx="8974344" cy="5820849"/>
          </a:xfrm>
          <a:prstGeom prst="rect">
            <a:avLst/>
          </a:prstGeom>
        </p:spPr>
        <p:txBody>
          <a:bodyPr vert="horz" wrap="square" lIns="0" tIns="62953" rIns="0" bIns="0" rtlCol="0">
            <a:spAutoFit/>
          </a:bodyPr>
          <a:lstStyle/>
          <a:p>
            <a:pPr marL="390525" marR="5080" indent="-378460">
              <a:lnSpc>
                <a:spcPct val="150300"/>
              </a:lnSpc>
              <a:spcBef>
                <a:spcPts val="100"/>
              </a:spcBef>
              <a:buSzPct val="118181"/>
              <a:buFont typeface="Arial MT"/>
              <a:buChar char="•"/>
              <a:tabLst>
                <a:tab pos="390525" algn="l"/>
              </a:tabLst>
            </a:pPr>
            <a:r>
              <a:rPr lang="en-US" dirty="0"/>
              <a:t>The proposed system develops a </a:t>
            </a:r>
            <a:r>
              <a:rPr lang="en-US" b="1" dirty="0"/>
              <a:t>robust image steganography framework</a:t>
            </a:r>
            <a:r>
              <a:rPr lang="en-US" dirty="0"/>
              <a:t> using </a:t>
            </a:r>
            <a:r>
              <a:rPr lang="en-US" b="1" dirty="0"/>
              <a:t>Edge Detection and CNN</a:t>
            </a:r>
            <a:r>
              <a:rPr lang="en-US" dirty="0"/>
              <a:t> for secure data hiding.</a:t>
            </a:r>
          </a:p>
          <a:p>
            <a:pPr marL="390525" marR="5080" indent="-378460">
              <a:lnSpc>
                <a:spcPct val="150000"/>
              </a:lnSpc>
              <a:spcBef>
                <a:spcPts val="100"/>
              </a:spcBef>
              <a:buSzPct val="118181"/>
              <a:buFont typeface="Arial MT"/>
              <a:buChar char="•"/>
              <a:tabLst>
                <a:tab pos="390525" algn="l"/>
              </a:tabLst>
            </a:pPr>
            <a:r>
              <a:rPr lang="en-US" dirty="0"/>
              <a:t>The cover image is processed using </a:t>
            </a:r>
            <a:r>
              <a:rPr lang="en-US" b="1" dirty="0"/>
              <a:t>edge detection techniques</a:t>
            </a:r>
            <a:r>
              <a:rPr lang="en-US" dirty="0"/>
              <a:t> (Canny / Sobel / HED) to identify </a:t>
            </a:r>
            <a:r>
              <a:rPr lang="en-US" b="1" dirty="0"/>
              <a:t>high-frequency edge regions</a:t>
            </a:r>
            <a:r>
              <a:rPr lang="en-US" dirty="0"/>
              <a:t> where embedding is less noticeable to the Human Visual System (HVS).</a:t>
            </a:r>
          </a:p>
          <a:p>
            <a:pPr marL="390525" marR="5080" indent="-378460">
              <a:lnSpc>
                <a:spcPct val="150300"/>
              </a:lnSpc>
              <a:spcBef>
                <a:spcPts val="100"/>
              </a:spcBef>
              <a:buSzPct val="118181"/>
              <a:buFont typeface="Arial MT"/>
              <a:buChar char="•"/>
              <a:tabLst>
                <a:tab pos="390525" algn="l"/>
              </a:tabLst>
            </a:pPr>
            <a:r>
              <a:rPr lang="en-US" dirty="0"/>
              <a:t>An </a:t>
            </a:r>
            <a:r>
              <a:rPr lang="en-US" b="1" dirty="0"/>
              <a:t>edge-based attention map (embedding mask)</a:t>
            </a:r>
            <a:r>
              <a:rPr lang="en-US" dirty="0"/>
              <a:t> is generated to select suitable embedding locations.</a:t>
            </a:r>
            <a:endParaRPr lang="en-US" spc="-10" dirty="0"/>
          </a:p>
          <a:p>
            <a:pPr marL="390525" marR="5080" indent="-378460">
              <a:lnSpc>
                <a:spcPct val="150300"/>
              </a:lnSpc>
              <a:spcBef>
                <a:spcPts val="100"/>
              </a:spcBef>
              <a:buSzPct val="118181"/>
              <a:buFont typeface="Arial MT"/>
              <a:buChar char="•"/>
              <a:tabLst>
                <a:tab pos="390525" algn="l"/>
              </a:tabLst>
            </a:pPr>
            <a:r>
              <a:rPr lang="en-US" dirty="0"/>
              <a:t>The secret message is </a:t>
            </a:r>
            <a:r>
              <a:rPr lang="en-US" b="1" dirty="0"/>
              <a:t>encrypted and randomized</a:t>
            </a:r>
            <a:r>
              <a:rPr lang="en-US" dirty="0"/>
              <a:t> before embedding to improve security.</a:t>
            </a:r>
            <a:endParaRPr lang="en-US" spc="-10" dirty="0"/>
          </a:p>
          <a:p>
            <a:pPr marL="390525" marR="5080" indent="-378460">
              <a:lnSpc>
                <a:spcPct val="150300"/>
              </a:lnSpc>
              <a:spcBef>
                <a:spcPts val="100"/>
              </a:spcBef>
              <a:buSzPct val="118181"/>
              <a:buFont typeface="Arial MT"/>
              <a:buChar char="•"/>
              <a:tabLst>
                <a:tab pos="390525" algn="l"/>
              </a:tabLst>
            </a:pPr>
            <a:r>
              <a:rPr lang="en-US" dirty="0"/>
              <a:t>A </a:t>
            </a:r>
            <a:r>
              <a:rPr lang="en-US" b="1" dirty="0"/>
              <a:t>CNN Encoder (Hiding Network)</a:t>
            </a:r>
            <a:r>
              <a:rPr lang="en-US" dirty="0"/>
              <a:t> adaptively embeds the secret data mainly into edge regions while minimizing distortion and maintaining image quality.</a:t>
            </a:r>
            <a:endParaRPr lang="en-US" spc="-10" dirty="0"/>
          </a:p>
          <a:p>
            <a:pPr marL="390525" marR="5080" indent="-378460">
              <a:lnSpc>
                <a:spcPct val="150300"/>
              </a:lnSpc>
              <a:spcBef>
                <a:spcPts val="100"/>
              </a:spcBef>
              <a:buSzPct val="118181"/>
              <a:buFont typeface="Arial MT"/>
              <a:buChar char="•"/>
              <a:tabLst>
                <a:tab pos="390525" algn="l"/>
              </a:tabLst>
            </a:pPr>
            <a:r>
              <a:rPr lang="en-US" dirty="0"/>
              <a:t>The output produced is a </a:t>
            </a:r>
            <a:r>
              <a:rPr lang="en-US" b="1" dirty="0" err="1"/>
              <a:t>stego</a:t>
            </a:r>
            <a:r>
              <a:rPr lang="en-US" b="1" dirty="0"/>
              <a:t> image</a:t>
            </a:r>
            <a:r>
              <a:rPr lang="en-US" dirty="0"/>
              <a:t> that looks almost identical to the original cover image.</a:t>
            </a:r>
          </a:p>
          <a:p>
            <a:pPr marL="390525" marR="5080" indent="-378460">
              <a:lnSpc>
                <a:spcPct val="150300"/>
              </a:lnSpc>
              <a:spcBef>
                <a:spcPts val="100"/>
              </a:spcBef>
              <a:buSzPct val="118181"/>
              <a:buFont typeface="Arial MT"/>
              <a:buChar char="•"/>
              <a:tabLst>
                <a:tab pos="390525" algn="l"/>
              </a:tabLst>
            </a:pPr>
            <a:r>
              <a:rPr lang="en-US" dirty="0"/>
              <a:t>At the receiver side, a </a:t>
            </a:r>
            <a:r>
              <a:rPr lang="en-US" b="1" dirty="0"/>
              <a:t>CNN Decoder (Revealing Network)</a:t>
            </a:r>
            <a:r>
              <a:rPr lang="en-US" dirty="0"/>
              <a:t> extracts the hidden message accurately from the </a:t>
            </a:r>
            <a:r>
              <a:rPr lang="en-US" dirty="0" err="1"/>
              <a:t>stego</a:t>
            </a:r>
            <a:r>
              <a:rPr lang="en-US" dirty="0"/>
              <a:t> image.</a:t>
            </a:r>
          </a:p>
          <a:p>
            <a:pPr marL="390525" marR="5080" indent="-378460">
              <a:lnSpc>
                <a:spcPct val="150300"/>
              </a:lnSpc>
              <a:spcBef>
                <a:spcPts val="100"/>
              </a:spcBef>
              <a:buSzPct val="118181"/>
              <a:buFont typeface="Arial MT"/>
              <a:buChar char="•"/>
              <a:tabLst>
                <a:tab pos="390525" algn="l"/>
              </a:tabLst>
            </a:pPr>
            <a:r>
              <a:rPr lang="en-US" dirty="0"/>
              <a:t>The system is evaluated using </a:t>
            </a:r>
            <a:r>
              <a:rPr lang="en-US" b="1" dirty="0"/>
              <a:t>PSNR, SSIM, and BER</a:t>
            </a:r>
            <a:r>
              <a:rPr lang="en-US" dirty="0"/>
              <a:t> to ensure high imperceptibility, robustness, and reliable extraction even after compression, noise, and filtering attacks.</a:t>
            </a:r>
            <a:endParaRPr lang="en-US" spc="-10" dirty="0"/>
          </a:p>
        </p:txBody>
      </p:sp>
    </p:spTree>
    <p:extLst>
      <p:ext uri="{BB962C8B-B14F-4D97-AF65-F5344CB8AC3E}">
        <p14:creationId xmlns:p14="http://schemas.microsoft.com/office/powerpoint/2010/main" val="2257967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6100" y="581025"/>
            <a:ext cx="9489442" cy="584246"/>
          </a:xfrm>
          <a:prstGeom prst="rect">
            <a:avLst/>
          </a:prstGeom>
        </p:spPr>
        <p:txBody>
          <a:bodyPr vert="horz" wrap="square" lIns="0" tIns="90916" rIns="0" bIns="0" rtlCol="0">
            <a:spAutoFit/>
          </a:bodyPr>
          <a:lstStyle/>
          <a:p>
            <a:pPr marL="12700" algn="ctr">
              <a:lnSpc>
                <a:spcPct val="100000"/>
              </a:lnSpc>
              <a:spcBef>
                <a:spcPts val="1175"/>
              </a:spcBef>
              <a:tabLst>
                <a:tab pos="390525" algn="l"/>
              </a:tabLst>
            </a:pPr>
            <a:r>
              <a:rPr lang="en-US" sz="3200" dirty="0">
                <a:solidFill>
                  <a:schemeClr val="tx1"/>
                </a:solidFill>
              </a:rPr>
              <a:t>System Design</a:t>
            </a:r>
            <a:endParaRPr lang="en-US" sz="3200" dirty="0">
              <a:solidFill>
                <a:srgbClr val="FF0000"/>
              </a:solidFil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775"/>
              </a:lnSpc>
            </a:pPr>
            <a:fld id="{81D60167-4931-47E6-BA6A-407CBD079E47}" type="slidenum">
              <a:rPr spc="-25" dirty="0"/>
              <a:t>12</a:t>
            </a:fld>
            <a:endParaRPr spc="-25" dirty="0"/>
          </a:p>
        </p:txBody>
      </p:sp>
      <p:pic>
        <p:nvPicPr>
          <p:cNvPr id="6" name="Picture 5">
            <a:extLst>
              <a:ext uri="{FF2B5EF4-FFF2-40B4-BE49-F238E27FC236}">
                <a16:creationId xmlns:a16="http://schemas.microsoft.com/office/drawing/2014/main" id="{E3B50F04-1494-21FB-C60F-91BD3B3784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4526" y="1266825"/>
            <a:ext cx="7824347" cy="52162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E5F74-6E0C-EB4C-841C-15D49BD2AEE9}"/>
              </a:ext>
            </a:extLst>
          </p:cNvPr>
          <p:cNvSpPr>
            <a:spLocks noGrp="1"/>
          </p:cNvSpPr>
          <p:nvPr>
            <p:ph type="title"/>
          </p:nvPr>
        </p:nvSpPr>
        <p:spPr>
          <a:xfrm>
            <a:off x="3484975" y="368247"/>
            <a:ext cx="4071525" cy="538609"/>
          </a:xfrm>
        </p:spPr>
        <p:txBody>
          <a:bodyPr/>
          <a:lstStyle/>
          <a:p>
            <a:r>
              <a:rPr lang="en-IN" dirty="0"/>
              <a:t>Dataset Description</a:t>
            </a:r>
          </a:p>
        </p:txBody>
      </p:sp>
      <p:sp>
        <p:nvSpPr>
          <p:cNvPr id="3" name="Text Placeholder 2">
            <a:extLst>
              <a:ext uri="{FF2B5EF4-FFF2-40B4-BE49-F238E27FC236}">
                <a16:creationId xmlns:a16="http://schemas.microsoft.com/office/drawing/2014/main" id="{98C5B4BA-21A0-0035-0579-3F00C83F91A4}"/>
              </a:ext>
            </a:extLst>
          </p:cNvPr>
          <p:cNvSpPr>
            <a:spLocks noGrp="1"/>
          </p:cNvSpPr>
          <p:nvPr>
            <p:ph type="body" idx="1"/>
          </p:nvPr>
        </p:nvSpPr>
        <p:spPr>
          <a:xfrm>
            <a:off x="912756" y="1115310"/>
            <a:ext cx="8867887" cy="5755422"/>
          </a:xfrm>
        </p:spPr>
        <p:txBody>
          <a:bodyPr/>
          <a:lstStyle/>
          <a:p>
            <a:pPr marL="285750" indent="-285750">
              <a:buFont typeface="Arial" panose="020B0604020202020204" pitchFamily="34" charset="0"/>
              <a:buChar char="•"/>
            </a:pPr>
            <a:r>
              <a:rPr lang="en-US" sz="1700" dirty="0"/>
              <a:t>To evaluate the proposed </a:t>
            </a:r>
            <a:r>
              <a:rPr lang="en-US" sz="1700" b="1" dirty="0"/>
              <a:t>Edge Detection + CNN based Image Steganography Framework</a:t>
            </a:r>
            <a:r>
              <a:rPr lang="en-US" sz="1700" dirty="0"/>
              <a:t>, standard benchmark image datasets are used to test the system under different image types, textures, and resolutions. The main datasets considered are:</a:t>
            </a:r>
            <a:br>
              <a:rPr lang="en-US" sz="1700" dirty="0"/>
            </a:br>
            <a:endParaRPr lang="en-US" sz="1700" dirty="0"/>
          </a:p>
          <a:p>
            <a:pPr marL="285750" indent="-285750" algn="l">
              <a:buFont typeface="Arial" panose="020B0604020202020204" pitchFamily="34" charset="0"/>
              <a:buChar char="•"/>
            </a:pPr>
            <a:r>
              <a:rPr lang="en-US" sz="1700" b="1" dirty="0"/>
              <a:t>BOSS Base Dataset:</a:t>
            </a:r>
            <a:br>
              <a:rPr lang="en-US" sz="1700" dirty="0"/>
            </a:br>
            <a:r>
              <a:rPr lang="en-US" sz="1700" dirty="0"/>
              <a:t>Contains </a:t>
            </a:r>
            <a:r>
              <a:rPr lang="en-US" sz="1700" b="1" dirty="0"/>
              <a:t>10,000 grayscale images</a:t>
            </a:r>
            <a:r>
              <a:rPr lang="en-US" sz="1700" dirty="0"/>
              <a:t> with a resolution of </a:t>
            </a:r>
            <a:r>
              <a:rPr lang="en-US" sz="1700" b="1" dirty="0"/>
              <a:t>512×512</a:t>
            </a:r>
            <a:r>
              <a:rPr lang="en-US" sz="1700" dirty="0"/>
              <a:t>. It is widely used as a benchmark        dataset in image steganography research for evaluating imperceptibility and steganalysis resistance.</a:t>
            </a:r>
            <a:br>
              <a:rPr lang="en-US" sz="1700" dirty="0"/>
            </a:br>
            <a:endParaRPr lang="en-US" sz="1700" dirty="0"/>
          </a:p>
          <a:p>
            <a:pPr marL="285750" indent="-285750" algn="l">
              <a:buFont typeface="Arial" panose="020B0604020202020204" pitchFamily="34" charset="0"/>
              <a:buChar char="•"/>
            </a:pPr>
            <a:r>
              <a:rPr lang="en-US" sz="1700" b="1" dirty="0"/>
              <a:t>USC-SIPI Dataset:</a:t>
            </a:r>
            <a:br>
              <a:rPr lang="en-US" sz="1700" b="1" dirty="0"/>
            </a:br>
            <a:r>
              <a:rPr lang="en-US" sz="1700" dirty="0"/>
              <a:t>A standard digitized image dataset containing images of different resolutions such as </a:t>
            </a:r>
            <a:r>
              <a:rPr lang="en-US" sz="1700" b="1" dirty="0"/>
              <a:t>256×256, 512×512, and 1024×1024</a:t>
            </a:r>
            <a:r>
              <a:rPr lang="en-US" sz="1700" dirty="0"/>
              <a:t>. It is useful for testing the robustness of the steganography model across different image qualities and structures.</a:t>
            </a:r>
            <a:br>
              <a:rPr lang="en-US" sz="1700" dirty="0"/>
            </a:br>
            <a:endParaRPr lang="en-US" sz="1700" dirty="0"/>
          </a:p>
          <a:p>
            <a:pPr marL="285750" indent="-285750" algn="l">
              <a:buFont typeface="Arial" panose="020B0604020202020204" pitchFamily="34" charset="0"/>
              <a:buChar char="•"/>
            </a:pPr>
            <a:r>
              <a:rPr lang="en-US" sz="1700" b="1" dirty="0"/>
              <a:t>Tiny ImageNet Dataset:</a:t>
            </a:r>
            <a:br>
              <a:rPr lang="en-US" sz="1700" dirty="0"/>
            </a:br>
            <a:r>
              <a:rPr lang="en-US" sz="1700" dirty="0"/>
              <a:t>Contains </a:t>
            </a:r>
            <a:r>
              <a:rPr lang="en-US" sz="1700" b="1" dirty="0"/>
              <a:t>100,000 color images</a:t>
            </a:r>
            <a:r>
              <a:rPr lang="en-US" sz="1700" dirty="0"/>
              <a:t> of resolution </a:t>
            </a:r>
            <a:r>
              <a:rPr lang="en-US" sz="1700" b="1" dirty="0"/>
              <a:t>64×64</a:t>
            </a:r>
            <a:r>
              <a:rPr lang="en-US" sz="1700" dirty="0"/>
              <a:t> across </a:t>
            </a:r>
            <a:r>
              <a:rPr lang="en-US" sz="1700" b="1" dirty="0"/>
              <a:t>200 classes</a:t>
            </a:r>
            <a:r>
              <a:rPr lang="en-US" sz="1700" dirty="0"/>
              <a:t>. This dataset provides diverse image content and helps evaluate the generalization ability of the CNN model.</a:t>
            </a:r>
            <a:br>
              <a:rPr lang="en-US" sz="1700" dirty="0"/>
            </a:br>
            <a:endParaRPr lang="en-US" sz="1700" dirty="0"/>
          </a:p>
          <a:p>
            <a:r>
              <a:rPr lang="en-US" sz="1700" dirty="0"/>
              <a:t>These datasets support effective evaluation of the proposed system using performance metrics such as </a:t>
            </a:r>
            <a:r>
              <a:rPr lang="en-US" sz="1700" b="1" dirty="0"/>
              <a:t>PSNR, SSIM, and BER</a:t>
            </a:r>
            <a:r>
              <a:rPr lang="en-US" sz="1700" dirty="0"/>
              <a:t>, ensuring the framework performs well across different real-world image scenarios.</a:t>
            </a:r>
          </a:p>
          <a:p>
            <a:endParaRPr lang="en-IN" sz="1700" dirty="0"/>
          </a:p>
        </p:txBody>
      </p:sp>
    </p:spTree>
    <p:extLst>
      <p:ext uri="{BB962C8B-B14F-4D97-AF65-F5344CB8AC3E}">
        <p14:creationId xmlns:p14="http://schemas.microsoft.com/office/powerpoint/2010/main" val="46602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62234" y="544397"/>
            <a:ext cx="8534401" cy="570028"/>
          </a:xfrm>
          <a:prstGeom prst="rect">
            <a:avLst/>
          </a:prstGeom>
        </p:spPr>
        <p:txBody>
          <a:bodyPr vert="horz" wrap="square" lIns="0" tIns="15875" rIns="0" bIns="0" rtlCol="0">
            <a:spAutoFit/>
          </a:bodyPr>
          <a:lstStyle/>
          <a:p>
            <a:pPr marL="12700">
              <a:lnSpc>
                <a:spcPct val="100000"/>
              </a:lnSpc>
              <a:spcBef>
                <a:spcPts val="1190"/>
              </a:spcBef>
              <a:tabLst>
                <a:tab pos="390525" algn="l"/>
              </a:tabLst>
            </a:pPr>
            <a:r>
              <a:rPr lang="en-US" sz="3600" spc="-10" dirty="0"/>
              <a:t>Software and Hardware Requirements</a:t>
            </a:r>
            <a:endParaRPr lang="en-US" sz="360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775"/>
              </a:lnSpc>
            </a:pPr>
            <a:fld id="{81D60167-4931-47E6-BA6A-407CBD079E47}" type="slidenum">
              <a:rPr spc="-25" dirty="0"/>
              <a:t>14</a:t>
            </a:fld>
            <a:endParaRPr spc="-25" dirty="0"/>
          </a:p>
        </p:txBody>
      </p:sp>
      <p:sp>
        <p:nvSpPr>
          <p:cNvPr id="3" name="object 3"/>
          <p:cNvSpPr txBox="1"/>
          <p:nvPr/>
        </p:nvSpPr>
        <p:spPr>
          <a:xfrm>
            <a:off x="1194771" y="1419225"/>
            <a:ext cx="8869325" cy="822597"/>
          </a:xfrm>
          <a:prstGeom prst="rect">
            <a:avLst/>
          </a:prstGeom>
        </p:spPr>
        <p:txBody>
          <a:bodyPr vert="horz" wrap="square" lIns="0" tIns="12700" rIns="0" bIns="0" rtlCol="0">
            <a:spAutoFit/>
          </a:bodyPr>
          <a:lstStyle/>
          <a:p>
            <a:pPr marL="12700" marR="5080" algn="just">
              <a:lnSpc>
                <a:spcPct val="150300"/>
              </a:lnSpc>
              <a:spcBef>
                <a:spcPts val="100"/>
              </a:spcBef>
            </a:pPr>
            <a:r>
              <a:rPr lang="en-US" sz="2000" b="1" u="sng" dirty="0">
                <a:solidFill>
                  <a:schemeClr val="accent3">
                    <a:lumMod val="50000"/>
                  </a:schemeClr>
                </a:solidFill>
                <a:latin typeface="Times New Roman" panose="02020603050405020304" pitchFamily="18" charset="0"/>
                <a:cs typeface="Times New Roman" panose="02020603050405020304" pitchFamily="18" charset="0"/>
              </a:rPr>
              <a:t>SOFTWARE REQUIREMENS:</a:t>
            </a:r>
          </a:p>
          <a:p>
            <a:pPr marL="12700" marR="5080" algn="just">
              <a:lnSpc>
                <a:spcPct val="150300"/>
              </a:lnSpc>
              <a:spcBef>
                <a:spcPts val="100"/>
              </a:spcBef>
            </a:pPr>
            <a:endParaRPr sz="1650" dirty="0">
              <a:latin typeface="Times New Roman"/>
              <a:cs typeface="Times New Roman"/>
            </a:endParaRPr>
          </a:p>
        </p:txBody>
      </p:sp>
      <p:sp>
        <p:nvSpPr>
          <p:cNvPr id="6" name="TextBox 5">
            <a:extLst>
              <a:ext uri="{FF2B5EF4-FFF2-40B4-BE49-F238E27FC236}">
                <a16:creationId xmlns:a16="http://schemas.microsoft.com/office/drawing/2014/main" id="{57BD80A3-25C9-BE72-6394-1CFFE59EA2AE}"/>
              </a:ext>
            </a:extLst>
          </p:cNvPr>
          <p:cNvSpPr txBox="1"/>
          <p:nvPr/>
        </p:nvSpPr>
        <p:spPr>
          <a:xfrm>
            <a:off x="1371585" y="2105025"/>
            <a:ext cx="8127044" cy="419198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Operating System:</a:t>
            </a:r>
            <a:r>
              <a:rPr lang="en-US" sz="2000" dirty="0">
                <a:latin typeface="Times New Roman" panose="02020603050405020304" pitchFamily="18" charset="0"/>
                <a:cs typeface="Times New Roman" panose="02020603050405020304" pitchFamily="18" charset="0"/>
              </a:rPr>
              <a:t> Windows 10/11 or Linux</a:t>
            </a:r>
          </a:p>
          <a:p>
            <a:pPr marL="285750" indent="-28575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Programming Language:</a:t>
            </a:r>
            <a:r>
              <a:rPr lang="en-IN" sz="2000" dirty="0">
                <a:latin typeface="Times New Roman" panose="02020603050405020304" pitchFamily="18" charset="0"/>
                <a:cs typeface="Times New Roman" panose="02020603050405020304" pitchFamily="18" charset="0"/>
              </a:rPr>
              <a:t> Python</a:t>
            </a:r>
          </a:p>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Development Tools: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Jupyter</a:t>
            </a:r>
            <a:r>
              <a:rPr lang="en-US" sz="2000" dirty="0">
                <a:latin typeface="Times New Roman" panose="02020603050405020304" pitchFamily="18" charset="0"/>
                <a:cs typeface="Times New Roman" panose="02020603050405020304" pitchFamily="18" charset="0"/>
              </a:rPr>
              <a:t> Notebook / VS Code / Google </a:t>
            </a:r>
            <a:r>
              <a:rPr lang="en-US" sz="2000" dirty="0" err="1">
                <a:latin typeface="Times New Roman" panose="02020603050405020304" pitchFamily="18" charset="0"/>
                <a:cs typeface="Times New Roman" panose="02020603050405020304" pitchFamily="18" charset="0"/>
              </a:rPr>
              <a:t>Colab</a:t>
            </a: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Libraries / Frameworks: </a:t>
            </a:r>
            <a:endParaRPr lang="en-IN" sz="2000" dirty="0">
              <a:latin typeface="Times New Roman" panose="02020603050405020304" pitchFamily="18" charset="0"/>
              <a:cs typeface="Times New Roman" panose="02020603050405020304" pitchFamily="18" charset="0"/>
            </a:endParaRPr>
          </a:p>
          <a:p>
            <a:pPr algn="just">
              <a:lnSpc>
                <a:spcPct val="150000"/>
              </a:lnSpc>
            </a:pPr>
            <a:r>
              <a:rPr lang="en-IN" sz="2000" b="1" dirty="0">
                <a:latin typeface="Times New Roman" panose="02020603050405020304" pitchFamily="18" charset="0"/>
                <a:cs typeface="Times New Roman" panose="02020603050405020304" pitchFamily="18" charset="0"/>
              </a:rPr>
              <a:t>        OpenCV</a:t>
            </a:r>
            <a:r>
              <a:rPr lang="en-IN" sz="2000" dirty="0">
                <a:latin typeface="Times New Roman" panose="02020603050405020304" pitchFamily="18" charset="0"/>
                <a:cs typeface="Times New Roman" panose="02020603050405020304" pitchFamily="18" charset="0"/>
              </a:rPr>
              <a:t> (Edge Detection: Canny, Sobel, etc.)</a:t>
            </a:r>
          </a:p>
          <a:p>
            <a:pPr algn="just">
              <a:lnSpc>
                <a:spcPct val="150000"/>
              </a:lnSpc>
            </a:pPr>
            <a:r>
              <a:rPr lang="en-IN" sz="2000" b="1" dirty="0">
                <a:latin typeface="Times New Roman" panose="02020603050405020304" pitchFamily="18" charset="0"/>
                <a:cs typeface="Times New Roman" panose="02020603050405020304" pitchFamily="18" charset="0"/>
              </a:rPr>
              <a:t>        NumPy</a:t>
            </a:r>
            <a:r>
              <a:rPr lang="en-IN" sz="2000" dirty="0">
                <a:latin typeface="Times New Roman" panose="02020603050405020304" pitchFamily="18" charset="0"/>
                <a:cs typeface="Times New Roman" panose="02020603050405020304" pitchFamily="18" charset="0"/>
              </a:rPr>
              <a:t> (Image processing operations)</a:t>
            </a:r>
          </a:p>
          <a:p>
            <a:pPr algn="just">
              <a:lnSpc>
                <a:spcPct val="150000"/>
              </a:lnSpc>
            </a:pPr>
            <a:r>
              <a:rPr lang="en-IN" sz="2000" b="1" dirty="0">
                <a:latin typeface="Times New Roman" panose="02020603050405020304" pitchFamily="18" charset="0"/>
                <a:cs typeface="Times New Roman" panose="02020603050405020304" pitchFamily="18" charset="0"/>
              </a:rPr>
              <a:t>        TensorFlow / </a:t>
            </a:r>
            <a:r>
              <a:rPr lang="en-IN" sz="2000" b="1" dirty="0" err="1">
                <a:latin typeface="Times New Roman" panose="02020603050405020304" pitchFamily="18" charset="0"/>
                <a:cs typeface="Times New Roman" panose="02020603050405020304" pitchFamily="18" charset="0"/>
              </a:rPr>
              <a:t>PyTorch</a:t>
            </a:r>
            <a:r>
              <a:rPr lang="en-IN" sz="2000" dirty="0">
                <a:latin typeface="Times New Roman" panose="02020603050405020304" pitchFamily="18" charset="0"/>
                <a:cs typeface="Times New Roman" panose="02020603050405020304" pitchFamily="18" charset="0"/>
              </a:rPr>
              <a:t> (CNN model implementation)</a:t>
            </a:r>
          </a:p>
          <a:p>
            <a:pPr algn="just">
              <a:lnSpc>
                <a:spcPct val="150000"/>
              </a:lnSpc>
            </a:pPr>
            <a:r>
              <a:rPr lang="en-IN" sz="2000" b="1" dirty="0">
                <a:latin typeface="Times New Roman" panose="02020603050405020304" pitchFamily="18" charset="0"/>
                <a:cs typeface="Times New Roman" panose="02020603050405020304" pitchFamily="18" charset="0"/>
              </a:rPr>
              <a:t>        Matplotlib</a:t>
            </a:r>
            <a:r>
              <a:rPr lang="en-IN" sz="2000" dirty="0">
                <a:latin typeface="Times New Roman" panose="02020603050405020304" pitchFamily="18" charset="0"/>
                <a:cs typeface="Times New Roman" panose="02020603050405020304" pitchFamily="18" charset="0"/>
              </a:rPr>
              <a:t> (Graphs and evaluation visualization)</a:t>
            </a:r>
          </a:p>
          <a:p>
            <a:pPr marL="285750" indent="-28575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70867" y="487082"/>
            <a:ext cx="8841483" cy="570028"/>
          </a:xfrm>
          <a:prstGeom prst="rect">
            <a:avLst/>
          </a:prstGeom>
        </p:spPr>
        <p:txBody>
          <a:bodyPr vert="horz" wrap="square" lIns="0" tIns="15875" rIns="0" bIns="0" rtlCol="0">
            <a:spAutoFit/>
          </a:bodyPr>
          <a:lstStyle/>
          <a:p>
            <a:pPr marL="815340" algn="r">
              <a:lnSpc>
                <a:spcPct val="100000"/>
              </a:lnSpc>
              <a:spcBef>
                <a:spcPts val="125"/>
              </a:spcBef>
            </a:pPr>
            <a:r>
              <a:rPr lang="en-US" sz="3600" spc="-10" dirty="0" err="1"/>
              <a:t>Cont</a:t>
            </a:r>
            <a:r>
              <a:rPr lang="en-US" sz="3600" spc="-10" dirty="0"/>
              <a:t>…</a:t>
            </a:r>
            <a:endParaRPr sz="3600" spc="-10" dirty="0"/>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775"/>
              </a:lnSpc>
            </a:pPr>
            <a:fld id="{81D60167-4931-47E6-BA6A-407CBD079E47}" type="slidenum">
              <a:rPr spc="-25" dirty="0"/>
              <a:t>15</a:t>
            </a:fld>
            <a:endParaRPr spc="-25" dirty="0"/>
          </a:p>
        </p:txBody>
      </p:sp>
      <p:sp>
        <p:nvSpPr>
          <p:cNvPr id="4" name="object 4"/>
          <p:cNvSpPr txBox="1"/>
          <p:nvPr/>
        </p:nvSpPr>
        <p:spPr>
          <a:xfrm>
            <a:off x="979427" y="3057490"/>
            <a:ext cx="326390" cy="781685"/>
          </a:xfrm>
          <a:prstGeom prst="rect">
            <a:avLst/>
          </a:prstGeom>
        </p:spPr>
        <p:txBody>
          <a:bodyPr vert="horz" wrap="square" lIns="0" tIns="139065" rIns="0" bIns="0" rtlCol="0">
            <a:spAutoFit/>
          </a:bodyPr>
          <a:lstStyle/>
          <a:p>
            <a:pPr marL="12700">
              <a:lnSpc>
                <a:spcPct val="100000"/>
              </a:lnSpc>
              <a:spcBef>
                <a:spcPts val="1095"/>
              </a:spcBef>
            </a:pPr>
            <a:endParaRPr sz="1650" dirty="0">
              <a:latin typeface="Times New Roman"/>
              <a:cs typeface="Times New Roman"/>
            </a:endParaRPr>
          </a:p>
          <a:p>
            <a:pPr marL="12700">
              <a:lnSpc>
                <a:spcPct val="100000"/>
              </a:lnSpc>
              <a:spcBef>
                <a:spcPts val="994"/>
              </a:spcBef>
            </a:pPr>
            <a:r>
              <a:rPr sz="1650" spc="-20" dirty="0">
                <a:latin typeface="Times New Roman"/>
                <a:cs typeface="Times New Roman"/>
              </a:rPr>
              <a:t>.</a:t>
            </a:r>
            <a:endParaRPr sz="1650" dirty="0">
              <a:latin typeface="Times New Roman"/>
              <a:cs typeface="Times New Roman"/>
            </a:endParaRPr>
          </a:p>
        </p:txBody>
      </p:sp>
      <p:sp>
        <p:nvSpPr>
          <p:cNvPr id="8" name="Rectangle 7">
            <a:extLst>
              <a:ext uri="{FF2B5EF4-FFF2-40B4-BE49-F238E27FC236}">
                <a16:creationId xmlns:a16="http://schemas.microsoft.com/office/drawing/2014/main" id="{89498C01-17D9-B366-7198-291D02D6D963}"/>
              </a:ext>
            </a:extLst>
          </p:cNvPr>
          <p:cNvSpPr/>
          <p:nvPr/>
        </p:nvSpPr>
        <p:spPr>
          <a:xfrm>
            <a:off x="774700" y="1043775"/>
            <a:ext cx="8458200" cy="973152"/>
          </a:xfrm>
          <a:prstGeom prst="rect">
            <a:avLst/>
          </a:prstGeom>
          <a:noFill/>
        </p:spPr>
        <p:txBody>
          <a:bodyPr wrap="square" lIns="91440" tIns="45720" rIns="91440" bIns="45720">
            <a:spAutoFit/>
          </a:bodyPr>
          <a:lstStyle/>
          <a:p>
            <a:pPr marL="12700" marR="5080" algn="just">
              <a:lnSpc>
                <a:spcPct val="150300"/>
              </a:lnSpc>
              <a:spcBef>
                <a:spcPts val="100"/>
              </a:spcBef>
            </a:pPr>
            <a:r>
              <a:rPr lang="en-US" sz="2000" b="1" u="sng" dirty="0">
                <a:solidFill>
                  <a:schemeClr val="accent3">
                    <a:lumMod val="50000"/>
                  </a:schemeClr>
                </a:solidFill>
                <a:latin typeface="Times New Roman" panose="02020603050405020304" pitchFamily="18" charset="0"/>
                <a:cs typeface="Times New Roman" panose="02020603050405020304" pitchFamily="18" charset="0"/>
              </a:rPr>
              <a:t>HARDWARE REQUIREMENS:</a:t>
            </a:r>
          </a:p>
          <a:p>
            <a:pPr marL="12700" marR="5080" algn="just">
              <a:lnSpc>
                <a:spcPct val="150300"/>
              </a:lnSpc>
              <a:spcBef>
                <a:spcPts val="100"/>
              </a:spcBef>
            </a:pPr>
            <a:endParaRPr lang="en-US" sz="2000" b="1" u="sng"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7FB3EDE-9A37-6AC8-9E3A-01244E31B264}"/>
              </a:ext>
            </a:extLst>
          </p:cNvPr>
          <p:cNvSpPr txBox="1"/>
          <p:nvPr/>
        </p:nvSpPr>
        <p:spPr>
          <a:xfrm>
            <a:off x="1287535" y="1987515"/>
            <a:ext cx="8426438" cy="419198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sv-SE" sz="2000" b="1" dirty="0">
                <a:latin typeface="Times New Roman" panose="02020603050405020304" pitchFamily="18" charset="0"/>
                <a:cs typeface="Times New Roman" panose="02020603050405020304" pitchFamily="18" charset="0"/>
              </a:rPr>
              <a:t>Processor (CPU):</a:t>
            </a:r>
            <a:r>
              <a:rPr lang="sv-SE" sz="2000" dirty="0">
                <a:latin typeface="Times New Roman" panose="02020603050405020304" pitchFamily="18" charset="0"/>
                <a:cs typeface="Times New Roman" panose="02020603050405020304" pitchFamily="18" charset="0"/>
              </a:rPr>
              <a:t> Intel i5 / i7 or AMD Ryzen 5 / Ryzen 7</a:t>
            </a:r>
          </a:p>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RAM:</a:t>
            </a:r>
            <a:r>
              <a:rPr lang="en-US" sz="2000" dirty="0">
                <a:latin typeface="Times New Roman" panose="02020603050405020304" pitchFamily="18" charset="0"/>
                <a:cs typeface="Times New Roman" panose="02020603050405020304" pitchFamily="18" charset="0"/>
              </a:rPr>
              <a:t> Minimum 8GB (Recommended 16GB)</a:t>
            </a:r>
          </a:p>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Storage: </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Minimum 20GB free space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SSD recommended for faster dataset loading and training</a:t>
            </a:r>
          </a:p>
          <a:p>
            <a:pPr marL="285750" indent="-28575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System Type:</a:t>
            </a:r>
            <a:r>
              <a:rPr lang="en-IN" sz="2000" dirty="0">
                <a:latin typeface="Times New Roman" panose="02020603050405020304" pitchFamily="18" charset="0"/>
                <a:cs typeface="Times New Roman" panose="02020603050405020304" pitchFamily="18" charset="0"/>
              </a:rPr>
              <a:t> 64-bit system</a:t>
            </a:r>
          </a:p>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Internet Connection:</a:t>
            </a:r>
            <a:r>
              <a:rPr lang="en-US" sz="2000" dirty="0">
                <a:latin typeface="Times New Roman" panose="02020603050405020304" pitchFamily="18" charset="0"/>
                <a:cs typeface="Times New Roman" panose="02020603050405020304" pitchFamily="18" charset="0"/>
              </a:rPr>
              <a:t> Required for dataset download and library installation</a:t>
            </a:r>
          </a:p>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Input Devices:</a:t>
            </a:r>
            <a:r>
              <a:rPr lang="en-US" sz="2000" dirty="0">
                <a:latin typeface="Times New Roman" panose="02020603050405020304" pitchFamily="18" charset="0"/>
                <a:cs typeface="Times New Roman" panose="02020603050405020304" pitchFamily="18" charset="0"/>
              </a:rPr>
              <a:t> Keyboard and Mouse (for development and training workflow)</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72ABD-B1FB-1D24-E0D1-168C475B2753}"/>
              </a:ext>
            </a:extLst>
          </p:cNvPr>
          <p:cNvSpPr>
            <a:spLocks noGrp="1"/>
          </p:cNvSpPr>
          <p:nvPr>
            <p:ph type="title"/>
          </p:nvPr>
        </p:nvSpPr>
        <p:spPr>
          <a:xfrm>
            <a:off x="2968037" y="428625"/>
            <a:ext cx="4757325" cy="1077218"/>
          </a:xfrm>
        </p:spPr>
        <p:txBody>
          <a:bodyPr/>
          <a:lstStyle/>
          <a:p>
            <a:r>
              <a:rPr lang="en-US" dirty="0"/>
              <a:t>Performance Evaluation</a:t>
            </a:r>
            <a:endParaRPr lang="en-IN" dirty="0"/>
          </a:p>
        </p:txBody>
      </p:sp>
      <p:sp>
        <p:nvSpPr>
          <p:cNvPr id="4" name="Rectangle 1">
            <a:extLst>
              <a:ext uri="{FF2B5EF4-FFF2-40B4-BE49-F238E27FC236}">
                <a16:creationId xmlns:a16="http://schemas.microsoft.com/office/drawing/2014/main" id="{2E996393-865B-55A3-5D79-FC837CD7961D}"/>
              </a:ext>
            </a:extLst>
          </p:cNvPr>
          <p:cNvSpPr>
            <a:spLocks noGrp="1" noChangeArrowheads="1"/>
          </p:cNvSpPr>
          <p:nvPr>
            <p:ph type="body" idx="1"/>
          </p:nvPr>
        </p:nvSpPr>
        <p:spPr bwMode="auto">
          <a:xfrm>
            <a:off x="850900" y="581025"/>
            <a:ext cx="11112337" cy="6038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PSNR (Peak Signal-to-Noise Ratio)</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Measures image quality after embedding; higher PSNR indicates better imperceptibility.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SSIM (Structural Similarity Index)</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Evaluates structural similarity between cover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stego</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images; values closer to 1 indicate high similarity.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MSE (Mean Squared Error)</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Measures pixel-level difference; lower MSE means less distortion in the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stego</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image.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BER (Bit Error Rate)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Indicates accuracy of extracted data; lower BER ensures reliable message recovery.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Quality Analysis</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stego</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image appears identical to original (no visible changes).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Robustness Testing</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Evaluated under noise, compression, and filtering to test system reliability. </a:t>
            </a:r>
          </a:p>
        </p:txBody>
      </p:sp>
    </p:spTree>
    <p:extLst>
      <p:ext uri="{BB962C8B-B14F-4D97-AF65-F5344CB8AC3E}">
        <p14:creationId xmlns:p14="http://schemas.microsoft.com/office/powerpoint/2010/main" val="1313069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E3C55-8AF1-DCB6-FD6B-A3A326E72582}"/>
              </a:ext>
            </a:extLst>
          </p:cNvPr>
          <p:cNvSpPr>
            <a:spLocks noGrp="1"/>
          </p:cNvSpPr>
          <p:nvPr>
            <p:ph type="title"/>
          </p:nvPr>
        </p:nvSpPr>
        <p:spPr>
          <a:xfrm>
            <a:off x="3484975" y="368247"/>
            <a:ext cx="3723449" cy="538609"/>
          </a:xfrm>
        </p:spPr>
        <p:txBody>
          <a:bodyPr/>
          <a:lstStyle/>
          <a:p>
            <a:r>
              <a:rPr lang="en-US" dirty="0"/>
              <a:t>    Conclusion</a:t>
            </a:r>
            <a:endParaRPr lang="en-IN" dirty="0"/>
          </a:p>
        </p:txBody>
      </p:sp>
      <p:sp>
        <p:nvSpPr>
          <p:cNvPr id="3" name="Text Placeholder 2">
            <a:extLst>
              <a:ext uri="{FF2B5EF4-FFF2-40B4-BE49-F238E27FC236}">
                <a16:creationId xmlns:a16="http://schemas.microsoft.com/office/drawing/2014/main" id="{6A30C254-0021-4B65-64F9-072C11998BD8}"/>
              </a:ext>
            </a:extLst>
          </p:cNvPr>
          <p:cNvSpPr>
            <a:spLocks noGrp="1"/>
          </p:cNvSpPr>
          <p:nvPr>
            <p:ph type="body" idx="1"/>
          </p:nvPr>
        </p:nvSpPr>
        <p:spPr>
          <a:xfrm>
            <a:off x="959484" y="1343025"/>
            <a:ext cx="8774430" cy="5484643"/>
          </a:xfrm>
        </p:spPr>
        <p:txBody>
          <a:bodyPr/>
          <a:lstStyle/>
          <a:p>
            <a:pPr>
              <a:lnSpc>
                <a:spcPct val="150000"/>
              </a:lnSpc>
            </a:pPr>
            <a:r>
              <a:rPr lang="en-US" sz="2000" dirty="0"/>
              <a:t>	The proposed system for</a:t>
            </a:r>
            <a:r>
              <a:rPr lang="en-US" sz="2000" b="1" dirty="0"/>
              <a:t> </a:t>
            </a:r>
            <a:r>
              <a:rPr lang="en-US" sz="2000" b="1" i="1" dirty="0"/>
              <a:t>Robust Image Steganography Using Edge Detection and CNN</a:t>
            </a:r>
            <a:r>
              <a:rPr lang="en-US" sz="2000" b="1" dirty="0"/>
              <a:t> </a:t>
            </a:r>
            <a:r>
              <a:rPr lang="en-US" sz="2000" dirty="0"/>
              <a:t>provides an efficient and secure method for hiding confidential data within digital images. By utilizing edge detection techniques, the system identifies suitable regions for embedding, ensuring that the visual quality of the image remains unaffected. The integration of a CNN-based encoder–decoder model enables intelligent and adaptive data embedding and extraction.</a:t>
            </a:r>
          </a:p>
          <a:p>
            <a:pPr>
              <a:lnSpc>
                <a:spcPct val="150000"/>
              </a:lnSpc>
            </a:pPr>
            <a:r>
              <a:rPr lang="en-US" sz="2000" dirty="0"/>
              <a:t>	The performance evaluation demonstrates that the system achieves high imperceptibility, strong robustness, and accurate data recovery. Metrics such as PSNR, SSIM, and BER confirm that the </a:t>
            </a:r>
            <a:r>
              <a:rPr lang="en-US" sz="2000" dirty="0" err="1"/>
              <a:t>stego</a:t>
            </a:r>
            <a:r>
              <a:rPr lang="en-US" sz="2000" dirty="0"/>
              <a:t> images maintain quality while securely preserving hidden information. Overall, the approach offers a reliable solution for secure communication and data protection in modern digital environments.</a:t>
            </a:r>
          </a:p>
          <a:p>
            <a:pPr>
              <a:lnSpc>
                <a:spcPct val="150000"/>
              </a:lnSpc>
            </a:pPr>
            <a:endParaRPr lang="en-IN" sz="2000" dirty="0"/>
          </a:p>
        </p:txBody>
      </p:sp>
    </p:spTree>
    <p:extLst>
      <p:ext uri="{BB962C8B-B14F-4D97-AF65-F5344CB8AC3E}">
        <p14:creationId xmlns:p14="http://schemas.microsoft.com/office/powerpoint/2010/main" val="1304432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775"/>
              </a:lnSpc>
            </a:pPr>
            <a:fld id="{81D60167-4931-47E6-BA6A-407CBD079E47}" type="slidenum">
              <a:rPr spc="-25" dirty="0"/>
              <a:t>18</a:t>
            </a:fld>
            <a:endParaRPr spc="-25" dirty="0"/>
          </a:p>
        </p:txBody>
      </p:sp>
      <p:sp>
        <p:nvSpPr>
          <p:cNvPr id="5" name="Title 4">
            <a:extLst>
              <a:ext uri="{FF2B5EF4-FFF2-40B4-BE49-F238E27FC236}">
                <a16:creationId xmlns:a16="http://schemas.microsoft.com/office/drawing/2014/main" id="{40C2B9DF-8C0B-8713-8E80-6850C04F0FF5}"/>
              </a:ext>
            </a:extLst>
          </p:cNvPr>
          <p:cNvSpPr>
            <a:spLocks noGrp="1"/>
          </p:cNvSpPr>
          <p:nvPr>
            <p:ph type="title"/>
          </p:nvPr>
        </p:nvSpPr>
        <p:spPr>
          <a:xfrm>
            <a:off x="645886" y="504825"/>
            <a:ext cx="9067800" cy="623940"/>
          </a:xfrm>
        </p:spPr>
        <p:txBody>
          <a:bodyPr/>
          <a:lstStyle/>
          <a:p>
            <a:pPr algn="ctr"/>
            <a:r>
              <a:rPr lang="en-IN" sz="3600" spc="-10" dirty="0"/>
              <a:t>References</a:t>
            </a:r>
            <a:endParaRPr lang="en-IN" dirty="0"/>
          </a:p>
        </p:txBody>
      </p:sp>
      <p:sp>
        <p:nvSpPr>
          <p:cNvPr id="6" name="TextBox 5">
            <a:extLst>
              <a:ext uri="{FF2B5EF4-FFF2-40B4-BE49-F238E27FC236}">
                <a16:creationId xmlns:a16="http://schemas.microsoft.com/office/drawing/2014/main" id="{97CA5A60-E733-A524-90D9-076DC97265D2}"/>
              </a:ext>
            </a:extLst>
          </p:cNvPr>
          <p:cNvSpPr txBox="1"/>
          <p:nvPr/>
        </p:nvSpPr>
        <p:spPr>
          <a:xfrm>
            <a:off x="613368" y="1145408"/>
            <a:ext cx="9372600" cy="5078313"/>
          </a:xfrm>
          <a:prstGeom prst="rect">
            <a:avLst/>
          </a:prstGeom>
          <a:noFill/>
        </p:spPr>
        <p:txBody>
          <a:bodyPr wrap="square" rtlCol="0">
            <a:spAutoFit/>
          </a:bodyPr>
          <a:lstStyle/>
          <a:p>
            <a:pPr marL="285750" indent="-285750" algn="l">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Al-</a:t>
            </a:r>
            <a:r>
              <a:rPr lang="en-IN" b="1" dirty="0" err="1">
                <a:latin typeface="Times New Roman" panose="02020603050405020304" pitchFamily="18" charset="0"/>
                <a:cs typeface="Times New Roman" panose="02020603050405020304" pitchFamily="18" charset="0"/>
              </a:rPr>
              <a:t>Rawashdeh</a:t>
            </a:r>
            <a:r>
              <a:rPr lang="en-IN" b="1" dirty="0">
                <a:latin typeface="Times New Roman" panose="02020603050405020304" pitchFamily="18" charset="0"/>
                <a:cs typeface="Times New Roman" panose="02020603050405020304" pitchFamily="18" charset="0"/>
              </a:rPr>
              <a:t>, R., Rahman, M. M., &amp; Niazi, M. (2025).</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Robust image steganography approach based on edge detection combined with CNN algorithm. IEEE Access.</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Ray, S., Banerjee, S., &amp; Bandyopadhyay, S. K. (2021).</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Image steganography using deep learning based edge detection. Multimedia Tools and Applications.</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Liu, Q., Tang, Z., &amp; Luo, X. (2020).</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Secure and robust image steganography based on convolutional neural networks. IEEE Transactions on Multimedia.</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Canny, J. (1986).</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 computational approach to edge detection. IEEE Transactions on Pattern Analysis and Machine Intelligence.</a:t>
            </a:r>
          </a:p>
          <a:p>
            <a:pPr marL="285750" indent="-285750" algn="l">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Hussain, M., Wahab, A. W. A., Ho, A. T. S., Jung, K. H., &amp; Idris, Y. I. (2018).</a:t>
            </a:r>
            <a:br>
              <a:rPr lang="en-IN"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Image steganography in spatial domain: A survey. Signal Processing: Image Communication.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5C438A-CB00-97F4-EF09-5CF61FD693F1}"/>
              </a:ext>
            </a:extLst>
          </p:cNvPr>
          <p:cNvSpPr/>
          <p:nvPr/>
        </p:nvSpPr>
        <p:spPr>
          <a:xfrm>
            <a:off x="3686627" y="3319760"/>
            <a:ext cx="3320141" cy="923330"/>
          </a:xfrm>
          <a:prstGeom prst="rect">
            <a:avLst/>
          </a:prstGeom>
          <a:noFill/>
        </p:spPr>
        <p:txBody>
          <a:bodyPr wrap="none" lIns="91440" tIns="45720" rIns="91440" bIns="45720">
            <a:spAutoFit/>
          </a:bodyPr>
          <a:lstStyle/>
          <a:p>
            <a:pPr algn="ctr"/>
            <a:r>
              <a:rPr lang="en-US" sz="5400" dirty="0">
                <a:ln w="0"/>
                <a:solidFill>
                  <a:srgbClr val="00B05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Thank You</a:t>
            </a:r>
            <a:endParaRPr lang="en-US" sz="5400" b="0" cap="none" spc="0" dirty="0">
              <a:ln w="0"/>
              <a:solidFill>
                <a:srgbClr val="00B05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9529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306</TotalTime>
  <Words>2426</Words>
  <Application>Microsoft Office PowerPoint</Application>
  <PresentationFormat>Custom</PresentationFormat>
  <Paragraphs>193</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Arial MT</vt:lpstr>
      <vt:lpstr>Calibri</vt:lpstr>
      <vt:lpstr>Times New Roman</vt:lpstr>
      <vt:lpstr>Office Theme</vt:lpstr>
      <vt:lpstr>“A Robust Image Steganography Framework Using Edge Detection and CNN             for Secure Data  Hiding”</vt:lpstr>
      <vt:lpstr>Table of Contents</vt:lpstr>
      <vt:lpstr>       Abstract</vt:lpstr>
      <vt:lpstr>                Introduction</vt:lpstr>
      <vt:lpstr>      Problem Statement</vt:lpstr>
      <vt:lpstr>Objectives</vt:lpstr>
      <vt:lpstr>  Applications</vt:lpstr>
      <vt:lpstr>Literature Survey</vt:lpstr>
      <vt:lpstr>Cont…</vt:lpstr>
      <vt:lpstr>Research Gaps </vt:lpstr>
      <vt:lpstr>Proposed System</vt:lpstr>
      <vt:lpstr>System Design</vt:lpstr>
      <vt:lpstr>Dataset Description</vt:lpstr>
      <vt:lpstr>Software and Hardware Requirements</vt:lpstr>
      <vt:lpstr>Cont…</vt:lpstr>
      <vt:lpstr>Performance Evaluation</vt:lpstr>
      <vt:lpstr>    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Review.pptx</dc:title>
  <dc:creator>Sai Yaswin</dc:creator>
  <cp:lastModifiedBy>Patnam Nithin</cp:lastModifiedBy>
  <cp:revision>61</cp:revision>
  <dcterms:created xsi:type="dcterms:W3CDTF">2026-02-02T11:52:01Z</dcterms:created>
  <dcterms:modified xsi:type="dcterms:W3CDTF">2026-04-25T06:17:26Z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2026-01-12T00:00:00Z</vt:filetime>
  </property>
  <property fmtid="{D5CDD505-2E9C-101B-9397-08002B2CF9AE}" pid="3" name="LastSaved">
    <vt:filetime>2026-02-02T00:00:00Z</vt:filetime>
  </property>
  <property fmtid="{D5CDD505-2E9C-101B-9397-08002B2CF9AE}" pid="4" name="Producer">
    <vt:lpwstr>Microsoft: Print To PDF</vt:lpwstr>
  </property>
</Properties>
</file>